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7" r:id="rId18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SUBSCRIPTION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402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DDCF0"/>
                </a:solidFill>
              </a:defRPr>
            </a:pPr>
            <a:r>
              <a:t>Java Swing Based Subscription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429000"/>
            <a:ext cx="10515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FATEMA JAHAN HAFSHA — 2533509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ANIKA TASNIM MAISHA — 2534689042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SHIFA BINTE AHSAN — 2524764042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NAFISA TASNIM MYSHA — 2533885042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Project Overview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People often manage multiple monthly and annual subscriptions.</a:t>
            </a:r>
          </a:p>
          <a:p>
            <a:pPr>
              <a:spcAft>
                <a:spcPts val="12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It is easy to lose track of active subscriptions and monthly expenses.</a:t>
            </a:r>
          </a:p>
          <a:p>
            <a:pPr>
              <a:spcAft>
                <a:spcPts val="12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Unwanted subscriptions can continue unless they are cancelled.</a:t>
            </a:r>
          </a:p>
          <a:p>
            <a:pPr>
              <a:spcAft>
                <a:spcPts val="12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Users need a simple way to monitor subscriptions, spending and budget usage.</a:t>
            </a:r>
          </a:p>
          <a:p>
            <a:pPr>
              <a:spcAft>
                <a:spcPts val="12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Our solution is a desktop Subscription Manager built with Java Swing.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1828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693408"/>
            <a:ext cx="6400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Manage monthly and annual subscriptions.</a:t>
            </a:r>
          </a:p>
          <a:p>
            <a:pPr>
              <a:spcAft>
                <a:spcPts val="12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Store subscription information such as name, ID, cost, payment method and status.</a:t>
            </a:r>
          </a:p>
          <a:p>
            <a:pPr>
              <a:spcAft>
                <a:spcPts val="12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Calculate monthly subscription expenses.</a:t>
            </a:r>
          </a:p>
          <a:p>
            <a:pPr>
              <a:spcAft>
                <a:spcPts val="12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Allow users to cancel eligible subscriptions.</a:t>
            </a:r>
          </a:p>
          <a:p>
            <a:pPr>
              <a:spcAft>
                <a:spcPts val="12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Monitor spending against a monthly budget using a progress bar.</a:t>
            </a:r>
          </a:p>
          <a:p>
            <a:pPr>
              <a:spcAft>
                <a:spcPts val="12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Generate an updated subscription report.</a:t>
            </a:r>
          </a:p>
          <a:p>
            <a:pPr>
              <a:spcAft>
                <a:spcPts val="12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Provide a simple graphical user interface.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1828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693408"/>
            <a:ext cx="6400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Subscription.java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6"/>
                </a:solidFill>
                <a:latin typeface="Aptos"/>
              </a:defRPr>
            </a:pPr>
            <a:r>
              <a:t>Abstract parent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t>• Subscription is an abstract class.</a:t>
            </a:r>
          </a:p>
          <a:p>
            <a:pPr>
              <a:spcAft>
                <a:spcPts val="120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t>• Private fields store subscription name, ID, payment method, status, start date, auto-renewal, duration and cost.</a:t>
            </a:r>
          </a:p>
          <a:p>
            <a:pPr>
              <a:spcAft>
                <a:spcPts val="120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t>• The constructor initializes the common subscription information.</a:t>
            </a:r>
          </a:p>
          <a:p>
            <a:pPr>
              <a:spcAft>
                <a:spcPts val="120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t>• Getter and setter methods provide controlled access to the private fields.</a:t>
            </a:r>
          </a:p>
          <a:p>
            <a:pPr>
              <a:spcAft>
                <a:spcPts val="120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t>• getMonthlyCost() is abstract and must be implemented by child classes.</a:t>
            </a:r>
          </a:p>
          <a:p>
            <a:pPr>
              <a:spcAft>
                <a:spcPts val="120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t>• displayInfo() displays the common subscription details.</a:t>
            </a:r>
          </a:p>
          <a:p>
            <a:pPr>
              <a:spcAft>
                <a:spcPts val="120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t>• MonthlySubscription and AnnualSubscription inherit from this class.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417320"/>
            <a:ext cx="4251960" cy="4069080"/>
          </a:xfrm>
          <a:prstGeom prst="roundRect">
            <a:avLst/>
          </a:prstGeom>
          <a:solidFill>
            <a:srgbClr val="1D222A"/>
          </a:solidFill>
          <a:ln>
            <a:solidFill>
              <a:srgbClr val="465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1600200"/>
            <a:ext cx="379476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public abstract class Subscription {</a:t>
            </a:r>
            <a:br/>
            <a:r>
              <a:t>    private String subscriptionName;</a:t>
            </a:r>
            <a:br/>
            <a:r>
              <a:t>    private String subscriptionId;</a:t>
            </a:r>
            <a:br/>
            <a:r>
              <a:t>    private String paymentMethod;</a:t>
            </a:r>
            <a:br/>
            <a:r>
              <a:t>    private String status;</a:t>
            </a:r>
            <a:br/>
            <a:r>
              <a:t>    private String startDate;</a:t>
            </a:r>
            <a:br/>
            <a:r>
              <a:t>    private boolean autoRenewal;</a:t>
            </a:r>
            <a:br/>
            <a:r>
              <a:t>    private int duration;</a:t>
            </a:r>
            <a:br/>
            <a:r>
              <a:t>    private double cost;</a:t>
            </a:r>
            <a:br/>
            <a:br/>
            <a:r>
              <a:t>    public abstract double getMonthlyCost();</a:t>
            </a:r>
            <a:br/>
            <a: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1828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6693408"/>
            <a:ext cx="6400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Cancelable.java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6400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232830"/>
                </a:solidFill>
                <a:latin typeface="Aptos"/>
              </a:defRPr>
            </a:pPr>
            <a:r>
              <a:t>• Cancelable.java is an interface that defines cancellation behavior.</a:t>
            </a:r>
          </a:p>
          <a:p>
            <a:pPr>
              <a:defRPr sz="1900">
                <a:solidFill>
                  <a:srgbClr val="232830"/>
                </a:solidFill>
                <a:latin typeface="Aptos"/>
              </a:defRPr>
            </a:pPr>
            <a:r>
              <a:t>• cancelSubscription() performs the cancellation.</a:t>
            </a:r>
          </a:p>
          <a:p>
            <a:pPr>
              <a:defRPr sz="1900">
                <a:solidFill>
                  <a:srgbClr val="232830"/>
                </a:solidFill>
                <a:latin typeface="Aptos"/>
              </a:defRPr>
            </a:pPr>
            <a:r>
              <a:t>• isCancelable() checks whether cancellation is possible.</a:t>
            </a:r>
          </a:p>
          <a:p>
            <a:pPr>
              <a:defRPr sz="1900">
                <a:solidFill>
                  <a:srgbClr val="232830"/>
                </a:solidFill>
                <a:latin typeface="Aptos"/>
              </a:defRPr>
            </a:pPr>
            <a:r>
              <a:t>• getCancellationSteps() provides cancellation instructions.</a:t>
            </a:r>
          </a:p>
          <a:p>
            <a:pPr>
              <a:defRPr sz="1900">
                <a:solidFill>
                  <a:srgbClr val="232830"/>
                </a:solidFill>
                <a:latin typeface="Aptos"/>
              </a:defRPr>
            </a:pPr>
            <a:r>
              <a:t>• It separates cancellation behavior from common subscription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23760" y="1417320"/>
            <a:ext cx="4389120" cy="4160520"/>
          </a:xfrm>
          <a:prstGeom prst="roundRect">
            <a:avLst/>
          </a:prstGeom>
          <a:solidFill>
            <a:srgbClr val="1D222A"/>
          </a:solidFill>
          <a:ln>
            <a:solidFill>
              <a:srgbClr val="465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52360" y="1600200"/>
            <a:ext cx="3931920" cy="3794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Consolas"/>
              </a:defRPr>
            </a:pPr>
            <a:r>
              <a:t>public interface Cancelable {</a:t>
            </a:r>
          </a:p>
          <a:p>
            <a:pPr>
              <a:defRPr sz="1500">
                <a:solidFill>
                  <a:srgbClr val="FFFFFF"/>
                </a:solidFill>
                <a:latin typeface="Consolas"/>
              </a:defRPr>
            </a:pPr>
            <a:r>
              <a:t>    public void cancelSubscription();</a:t>
            </a:r>
          </a:p>
          <a:p>
            <a:pPr>
              <a:defRPr sz="1500">
                <a:solidFill>
                  <a:srgbClr val="FFFFFF"/>
                </a:solidFill>
                <a:latin typeface="Consolas"/>
              </a:defRPr>
            </a:pPr>
            <a:r>
              <a:t>    public boolean isCancelable();</a:t>
            </a:r>
          </a:p>
          <a:p>
            <a:pPr>
              <a:defRPr sz="1500">
                <a:solidFill>
                  <a:srgbClr val="FFFFFF"/>
                </a:solidFill>
                <a:latin typeface="Consolas"/>
              </a:defRPr>
            </a:pPr>
            <a:r>
              <a:t>    public String getCancellationSteps();</a:t>
            </a:r>
          </a:p>
          <a:p>
            <a:pPr>
              <a:defRPr sz="150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1828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693408"/>
            <a:ext cx="6400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AnnualSubscription.java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6400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AnnualSubscription extends Subscription and implements Cancelable.</a:t>
            </a:r>
          </a:p>
          <a:p>
            <a:pPr>
              <a:spcAft>
                <a:spcPts val="12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It stores the annual subscription cost.</a:t>
            </a:r>
          </a:p>
          <a:p>
            <a:pPr>
              <a:spcAft>
                <a:spcPts val="12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getMonthlyCost() converts annual cost into a monthly value by dividing the cost by 12.</a:t>
            </a:r>
          </a:p>
          <a:p>
            <a:pPr>
              <a:spcAft>
                <a:spcPts val="12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cancelSubscription() changes the status to Cancelled when cancellation is allowed.</a:t>
            </a:r>
          </a:p>
          <a:p>
            <a:pPr>
              <a:spcAft>
                <a:spcPts val="12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Cancellation also sets auto-renewal to false.</a:t>
            </a:r>
          </a:p>
          <a:p>
            <a:pPr>
              <a:spcAft>
                <a:spcPts val="12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isCancelable() returns false when the status is already Cancelled.</a:t>
            </a:r>
          </a:p>
          <a:p>
            <a:pPr>
              <a:spcAft>
                <a:spcPts val="12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displayInfo() shows annual subscription information and monthly cost.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600200"/>
            <a:ext cx="4251960" cy="3291840"/>
          </a:xfrm>
          <a:prstGeom prst="roundRect">
            <a:avLst/>
          </a:prstGeom>
          <a:solidFill>
            <a:srgbClr val="1D222A"/>
          </a:solidFill>
          <a:ln>
            <a:solidFill>
              <a:srgbClr val="465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43800" y="1783080"/>
            <a:ext cx="379476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public double getMonthlyCost() {</a:t>
            </a:r>
            <a:br/>
            <a:r>
              <a:t>    return getCost() / 12.0;</a:t>
            </a:r>
            <a:br/>
            <a:r>
              <a:t>}</a:t>
            </a:r>
            <a:br/>
            <a:br/>
            <a:r>
              <a:t>setStatus("Cancelled");</a:t>
            </a:r>
            <a:br/>
            <a:r>
              <a:t>setAutoRenewal(false);</a:t>
            </a:r>
            <a:br/>
            <a:br/>
            <a:r>
              <a:t>public boolean isCancelable() {</a:t>
            </a:r>
            <a:br/>
            <a:r>
              <a:t>    return !getStatus()</a:t>
            </a:r>
            <a:br/>
            <a:r>
              <a:t>        .equalsIgnoreCase("Cancelled");</a:t>
            </a:r>
            <a:br/>
            <a: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1828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693408"/>
            <a:ext cx="6400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Login.java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6"/>
                </a:solidFill>
                <a:latin typeface="Aptos"/>
              </a:defRPr>
            </a:pPr>
            <a:r>
              <a:t>Authentication and account creation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65836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t>• Creates the authentication window using Java Swing.</a:t>
            </a:r>
          </a:p>
          <a:p>
            <a:pPr>
              <a:spcAft>
                <a:spcPts val="120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t>• Uses JTextField for username and JPasswordField for password.</a:t>
            </a:r>
          </a:p>
          <a:p>
            <a:pPr>
              <a:spcAft>
                <a:spcPts val="120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t>• Provides Login and Create Account buttons.</a:t>
            </a:r>
          </a:p>
          <a:p>
            <a:pPr>
              <a:spcAft>
                <a:spcPts val="120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t>• The project includes a default admin account stored in an in-memory HashMap.</a:t>
            </a:r>
          </a:p>
          <a:p>
            <a:pPr>
              <a:spcAft>
                <a:spcPts val="120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t>• Login checks whether the username and password match.</a:t>
            </a:r>
          </a:p>
          <a:p>
            <a:pPr>
              <a:spcAft>
                <a:spcPts val="120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t>• Successful login closes the authentication window and opens SubscriptionManagerGUI.</a:t>
            </a:r>
          </a:p>
          <a:p>
            <a:pPr>
              <a:spcAft>
                <a:spcPts val="120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t>• Users can also create a new account if the username does not already exist.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1554480"/>
            <a:ext cx="4206240" cy="3383280"/>
          </a:xfrm>
          <a:prstGeom prst="roundRect">
            <a:avLst/>
          </a:prstGeom>
          <a:solidFill>
            <a:srgbClr val="1D222A"/>
          </a:solidFill>
          <a:ln>
            <a:solidFill>
              <a:srgbClr val="465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1737360"/>
            <a:ext cx="3749039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private static final Map&lt;String, String&gt;</a:t>
            </a:r>
            <a:br/>
            <a:r>
              <a:t>    userDatabase = new HashMap&lt;&gt;();</a:t>
            </a:r>
            <a:br/>
            <a:br/>
            <a:r>
              <a:t>static {</a:t>
            </a:r>
            <a:br/>
            <a:r>
              <a:t>    userDatabase.put("admin", "1234");</a:t>
            </a:r>
            <a:br/>
            <a:r>
              <a:t>}</a:t>
            </a:r>
            <a:br/>
            <a:br/>
            <a:r>
              <a:t>if (userDatabase.containsKey(username)</a:t>
            </a:r>
            <a:br/>
            <a:r>
              <a:t>        &amp;&amp; userDatabase.get(username).equals(password)) {</a:t>
            </a:r>
            <a:br/>
            <a:r>
              <a:t>    frame.dispose();</a:t>
            </a:r>
            <a:br/>
            <a:r>
              <a:t>    new SubscriptionManagerGUI();</a:t>
            </a:r>
            <a:br/>
            <a: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1828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6693408"/>
            <a:ext cx="6400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MonthlySubscription.java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6492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MonthlySubscription extends Subscription and implements Cancelable.</a:t>
            </a:r>
          </a:p>
          <a:p>
            <a:pPr>
              <a:spcAft>
                <a:spcPts val="12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getMonthlyCost() directly returns the stored cost.</a:t>
            </a:r>
          </a:p>
          <a:p>
            <a:pPr>
              <a:spcAft>
                <a:spcPts val="12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cancelSubscription() checks whether cancellation is allowed.</a:t>
            </a:r>
          </a:p>
          <a:p>
            <a:pPr>
              <a:spcAft>
                <a:spcPts val="12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When cancelled, status becomes Cancelled.</a:t>
            </a:r>
          </a:p>
          <a:p>
            <a:pPr>
              <a:spcAft>
                <a:spcPts val="12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Auto-renewal is disabled after cancellation.</a:t>
            </a:r>
          </a:p>
          <a:p>
            <a:pPr>
              <a:spcAft>
                <a:spcPts val="12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isCancelable() returns true unless the status is Cancelled.</a:t>
            </a:r>
          </a:p>
          <a:p>
            <a:pPr>
              <a:spcAft>
                <a:spcPts val="12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getCancellationSteps() returns a message explaining the confirmation process.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1600200"/>
            <a:ext cx="4206240" cy="3474720"/>
          </a:xfrm>
          <a:prstGeom prst="roundRect">
            <a:avLst/>
          </a:prstGeom>
          <a:solidFill>
            <a:srgbClr val="1D222A"/>
          </a:solidFill>
          <a:ln>
            <a:solidFill>
              <a:srgbClr val="465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0" y="1783080"/>
            <a:ext cx="3749039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public double getMonthlyCost() {</a:t>
            </a:r>
            <a:br/>
            <a:r>
              <a:t>    return getCost();</a:t>
            </a:r>
            <a:br/>
            <a:r>
              <a:t>}</a:t>
            </a:r>
            <a:br/>
            <a:br/>
            <a:r>
              <a:t>public void cancelSubscription() {</a:t>
            </a:r>
            <a:br/>
            <a:r>
              <a:t>    if (!isCancelable()) return;</a:t>
            </a:r>
            <a:br/>
            <a:br/>
            <a:r>
              <a:t>    setStatus("Cancelled");</a:t>
            </a:r>
            <a:br/>
            <a:r>
              <a:t>    setAutoRenewal(false);</a:t>
            </a:r>
            <a:br/>
            <a:r>
              <a:t>}</a:t>
            </a:r>
            <a:br/>
            <a:br/>
            <a:r>
              <a:t>public boolean isCancelable() {</a:t>
            </a:r>
            <a:br/>
            <a:r>
              <a:t>    return !getStatus()</a:t>
            </a:r>
            <a:br/>
            <a:r>
              <a:t>        .equalsIgnoreCase("Cancelled");</a:t>
            </a:r>
            <a:br/>
            <a: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1828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693408"/>
            <a:ext cx="6400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Report.java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6"/>
                </a:solidFill>
                <a:latin typeface="Aptos"/>
              </a:defRPr>
            </a:pPr>
            <a:r>
              <a:t>Subscription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6492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Report stores the current subscription statistics.</a:t>
            </a:r>
          </a:p>
          <a:p>
            <a:pPr>
              <a:spcAft>
                <a:spcPts val="12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It contains totalSubscription, activeSubscription, cancelledSubscription and totalExpenses.</a:t>
            </a:r>
          </a:p>
          <a:p>
            <a:pPr>
              <a:spcAft>
                <a:spcPts val="12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The parameterized constructor initializes these values.</a:t>
            </a:r>
          </a:p>
          <a:p>
            <a:pPr>
              <a:spcAft>
                <a:spcPts val="12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displayInfo() prints a formatted subscription report.</a:t>
            </a:r>
          </a:p>
          <a:p>
            <a:pPr>
              <a:spcAft>
                <a:spcPts val="12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Getter methods allow the GUI to retrieve each report value.</a:t>
            </a:r>
          </a:p>
          <a:p>
            <a:pPr>
              <a:spcAft>
                <a:spcPts val="12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The GUI uses Report to display the current total, active, cancelled and monthly expense information.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645920"/>
            <a:ext cx="4251960" cy="3246120"/>
          </a:xfrm>
          <a:prstGeom prst="roundRect">
            <a:avLst/>
          </a:prstGeom>
          <a:solidFill>
            <a:srgbClr val="1D222A"/>
          </a:solidFill>
          <a:ln>
            <a:solidFill>
              <a:srgbClr val="465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1828800"/>
            <a:ext cx="3794760" cy="2880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private int totalSubscription;</a:t>
            </a:r>
            <a:br/>
            <a:r>
              <a:t>private int activeSubscription;</a:t>
            </a:r>
            <a:br/>
            <a:r>
              <a:t>private int cancelledSubscription;</a:t>
            </a:r>
            <a:br/>
            <a:r>
              <a:t>private double totalExpenses;</a:t>
            </a:r>
            <a:br/>
            <a:br/>
            <a:r>
              <a:t>public Report(int total, int active,</a:t>
            </a:r>
            <a:br/>
            <a:r>
              <a:t>              int cancel, double expense) {</a:t>
            </a:r>
            <a:br/>
            <a:r>
              <a:t>    this.totalSubscription = total;</a:t>
            </a:r>
            <a:br/>
            <a:r>
              <a:t>    this.activeSubscription = active;</a:t>
            </a:r>
            <a:br/>
            <a:r>
              <a:t>    this.cancelledSubscription = cancel;</a:t>
            </a:r>
            <a:br/>
            <a:r>
              <a:t>    this.totalExpenses = expense;</a:t>
            </a:r>
            <a:br/>
            <a: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1828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6693408"/>
            <a:ext cx="6400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SubscriptionManagerGUI.java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6"/>
                </a:solidFill>
                <a:latin typeface="Aptos"/>
              </a:defRPr>
            </a:pPr>
            <a:r>
              <a:t>Main application interface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1828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693408"/>
            <a:ext cx="6400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25880"/>
            <a:ext cx="36576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32830"/>
                </a:solidFill>
                <a:latin typeface="Aptos"/>
              </a:defRPr>
            </a:pPr>
            <a:r>
              <a:t>• Main JFrame that connects the application's features.</a:t>
            </a:r>
          </a:p>
          <a:p>
            <a:pPr>
              <a:spcAft>
                <a:spcPts val="900"/>
              </a:spcAft>
              <a:defRPr sz="1300">
                <a:solidFill>
                  <a:srgbClr val="232830"/>
                </a:solidFill>
                <a:latin typeface="Aptos"/>
              </a:defRPr>
            </a:pPr>
            <a:r>
              <a:t>• Collects subscription details from the user.</a:t>
            </a:r>
          </a:p>
          <a:p>
            <a:pPr>
              <a:spcAft>
                <a:spcPts val="900"/>
              </a:spcAft>
              <a:defRPr sz="1300">
                <a:solidFill>
                  <a:srgbClr val="232830"/>
                </a:solidFill>
                <a:latin typeface="Aptos"/>
              </a:defRPr>
            </a:pPr>
            <a:r>
              <a:t>• Creates MonthlySubscription or AnnualSubscription objects.</a:t>
            </a:r>
          </a:p>
          <a:p>
            <a:pPr>
              <a:spcAft>
                <a:spcPts val="900"/>
              </a:spcAft>
              <a:defRPr sz="1300">
                <a:solidFill>
                  <a:srgbClr val="232830"/>
                </a:solidFill>
                <a:latin typeface="Aptos"/>
              </a:defRPr>
            </a:pPr>
            <a:r>
              <a:t>• Stores objects in the subscription list.</a:t>
            </a:r>
          </a:p>
          <a:p>
            <a:pPr>
              <a:spcAft>
                <a:spcPts val="900"/>
              </a:spcAft>
              <a:defRPr sz="1300">
                <a:solidFill>
                  <a:srgbClr val="232830"/>
                </a:solidFill>
                <a:latin typeface="Aptos"/>
              </a:defRPr>
            </a:pPr>
            <a:r>
              <a:t>• Displays data in My Subscriptions.</a:t>
            </a:r>
          </a:p>
          <a:p>
            <a:pPr>
              <a:spcAft>
                <a:spcPts val="900"/>
              </a:spcAft>
              <a:defRPr sz="1300">
                <a:solidFill>
                  <a:srgbClr val="232830"/>
                </a:solidFill>
                <a:latin typeface="Aptos"/>
              </a:defRPr>
            </a:pPr>
            <a:r>
              <a:t>• Calculates budget usage and generates reports.</a:t>
            </a:r>
          </a:p>
          <a:p>
            <a:pPr>
              <a:spcAft>
                <a:spcPts val="900"/>
              </a:spcAft>
              <a:defRPr sz="1300">
                <a:solidFill>
                  <a:srgbClr val="232830"/>
                </a:solidFill>
                <a:latin typeface="Aptos"/>
              </a:defRPr>
            </a:pPr>
            <a:r>
              <a:t>• Cancellation updates the subscription status and refreshes the display.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234440"/>
            <a:ext cx="6949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92D4B"/>
                </a:solidFill>
                <a:latin typeface="Aptos"/>
              </a:defRPr>
            </a:pPr>
            <a:r>
              <a:t>SubscriptionManagerGUI — Application 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783080"/>
            <a:ext cx="1920240" cy="594360"/>
          </a:xfrm>
          <a:prstGeom prst="roundRect">
            <a:avLst/>
          </a:prstGeom>
          <a:solidFill>
            <a:srgbClr val="E1EBF8"/>
          </a:solidFill>
          <a:ln w="19050"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82312" y="1892807"/>
            <a:ext cx="17739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92D4B"/>
                </a:solidFill>
                <a:latin typeface="Aptos"/>
              </a:defRPr>
            </a:pPr>
            <a:r>
              <a:t>User opens</a:t>
            </a:r>
            <a:br/>
            <a:r>
              <a:t>application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2697480"/>
            <a:ext cx="192024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82312" y="2807208"/>
            <a:ext cx="17739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92D4B"/>
                </a:solidFill>
                <a:latin typeface="Aptos"/>
              </a:defRPr>
            </a:pPr>
            <a:r>
              <a:t>Add Subscription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3611880"/>
            <a:ext cx="1920240" cy="658368"/>
          </a:xfrm>
          <a:prstGeom prst="roundRect">
            <a:avLst/>
          </a:prstGeom>
          <a:solidFill>
            <a:srgbClr val="DAF0E1"/>
          </a:solidFill>
          <a:ln w="19050"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82312" y="3721608"/>
            <a:ext cx="177393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92D4B"/>
                </a:solidFill>
                <a:latin typeface="Aptos"/>
              </a:defRPr>
            </a:pPr>
            <a:r>
              <a:t>Create Monthly /</a:t>
            </a:r>
            <a:br/>
            <a:r>
              <a:t>Annual Object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4572000"/>
            <a:ext cx="192024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82312" y="4681728"/>
            <a:ext cx="17739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92D4B"/>
                </a:solidFill>
                <a:latin typeface="Aptos"/>
              </a:defRPr>
            </a:pPr>
            <a:r>
              <a:t>Store in</a:t>
            </a:r>
            <a:br/>
            <a:r>
              <a:t>ArrayList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0" y="2377440"/>
            <a:ext cx="0" cy="320040"/>
          </a:xfrm>
          <a:prstGeom prst="line">
            <a:avLst/>
          </a:prstGeom>
          <a:ln w="25400">
            <a:solidFill>
              <a:srgbClr val="37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669280" y="3291840"/>
            <a:ext cx="0" cy="320040"/>
          </a:xfrm>
          <a:prstGeom prst="line">
            <a:avLst/>
          </a:prstGeom>
          <a:ln w="25400">
            <a:solidFill>
              <a:srgbClr val="37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669280" y="4270248"/>
            <a:ext cx="0" cy="301752"/>
          </a:xfrm>
          <a:prstGeom prst="line">
            <a:avLst/>
          </a:prstGeom>
          <a:ln w="25400">
            <a:solidFill>
              <a:srgbClr val="37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52360" y="4434840"/>
            <a:ext cx="1783080" cy="685800"/>
          </a:xfrm>
          <a:prstGeom prst="roundRect">
            <a:avLst/>
          </a:prstGeom>
          <a:solidFill>
            <a:srgbClr val="FAEBCD"/>
          </a:solidFill>
          <a:ln w="19050"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25512" y="4544568"/>
            <a:ext cx="163677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92D4B"/>
                </a:solidFill>
                <a:latin typeface="Aptos"/>
              </a:defRPr>
            </a:pPr>
            <a:r>
              <a:t>My Subscriptions</a:t>
            </a:r>
            <a:br/>
            <a:r>
              <a:t>(JTable)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55480" y="4434840"/>
            <a:ext cx="1783080" cy="685800"/>
          </a:xfrm>
          <a:prstGeom prst="roundRect">
            <a:avLst/>
          </a:prstGeom>
          <a:solidFill>
            <a:srgbClr val="FAEBCD"/>
          </a:solidFill>
          <a:ln w="19050"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8632" y="4544568"/>
            <a:ext cx="163677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92D4B"/>
                </a:solidFill>
                <a:latin typeface="Aptos"/>
              </a:defRPr>
            </a:pPr>
            <a:r>
              <a:t>Budget</a:t>
            </a:r>
            <a:br/>
            <a:r>
              <a:t>(JProgressBar)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52360" y="5440680"/>
            <a:ext cx="1783080" cy="685800"/>
          </a:xfrm>
          <a:prstGeom prst="roundRect">
            <a:avLst/>
          </a:prstGeom>
          <a:solidFill>
            <a:srgbClr val="FAEBCD"/>
          </a:solidFill>
          <a:ln w="19050"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25512" y="5550408"/>
            <a:ext cx="163677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92D4B"/>
                </a:solidFill>
                <a:latin typeface="Aptos"/>
              </a:defRPr>
            </a:pPr>
            <a:r>
              <a:t>Report</a:t>
            </a:r>
            <a:br/>
            <a:r>
              <a:t>(JTextArea)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55480" y="5440680"/>
            <a:ext cx="1783080" cy="685800"/>
          </a:xfrm>
          <a:prstGeom prst="roundRect">
            <a:avLst/>
          </a:prstGeom>
          <a:solidFill>
            <a:srgbClr val="FAEBCD"/>
          </a:solidFill>
          <a:ln w="19050"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28632" y="5550408"/>
            <a:ext cx="163677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92D4B"/>
                </a:solidFill>
                <a:latin typeface="Aptos"/>
              </a:defRPr>
            </a:pPr>
            <a:r>
              <a:t>Cancel Selected</a:t>
            </a:r>
            <a:br/>
            <a:r>
              <a:t>Subscription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6629400" y="4773168"/>
            <a:ext cx="822960" cy="91440"/>
          </a:xfrm>
          <a:prstGeom prst="line">
            <a:avLst/>
          </a:prstGeom>
          <a:ln w="25400">
            <a:solidFill>
              <a:srgbClr val="37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629400" y="4773168"/>
            <a:ext cx="2926080" cy="91440"/>
          </a:xfrm>
          <a:prstGeom prst="line">
            <a:avLst/>
          </a:prstGeom>
          <a:ln w="25400">
            <a:solidFill>
              <a:srgbClr val="37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339327" y="5120640"/>
            <a:ext cx="0" cy="320040"/>
          </a:xfrm>
          <a:prstGeom prst="line">
            <a:avLst/>
          </a:prstGeom>
          <a:ln w="25400">
            <a:solidFill>
              <a:srgbClr val="37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442448" y="5120640"/>
            <a:ext cx="0" cy="320040"/>
          </a:xfrm>
          <a:prstGeom prst="line">
            <a:avLst/>
          </a:prstGeom>
          <a:ln w="25400">
            <a:solidFill>
              <a:srgbClr val="37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526280" y="6263640"/>
            <a:ext cx="6812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192D4B"/>
                </a:solidFill>
                <a:latin typeface="Aptos"/>
              </a:defRPr>
            </a:pPr>
            <a:r>
              <a:t>Add / Cancel → refreshes the subscription table and report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Main.java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6"/>
                </a:solidFill>
              </a:defRPr>
            </a:pPr>
            <a:r>
              <a:t>Application entry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8521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Main.java contains the main() method of the application.</a:t>
            </a:r>
          </a:p>
          <a:p>
            <a:pPr>
              <a:spcAft>
                <a:spcPts val="14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It provides the starting point when the program is executed.</a:t>
            </a:r>
          </a:p>
          <a:p>
            <a:pPr>
              <a:spcAft>
                <a:spcPts val="14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SwingUtilities.invokeLater() starts the GUI on the Swing event-dispatching thread.</a:t>
            </a:r>
          </a:p>
          <a:p>
            <a:pPr>
              <a:spcAft>
                <a:spcPts val="14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The Login window is created first.</a:t>
            </a:r>
          </a:p>
          <a:p>
            <a:pPr>
              <a:spcAft>
                <a:spcPts val="14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After successful login, Login opens SubscriptionManagerGUI.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1645920"/>
            <a:ext cx="4434840" cy="2971800"/>
          </a:xfrm>
          <a:prstGeom prst="roundRect">
            <a:avLst/>
          </a:prstGeom>
          <a:solidFill>
            <a:srgbClr val="1D222A"/>
          </a:solidFill>
          <a:ln>
            <a:solidFill>
              <a:srgbClr val="465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50608" y="1874519"/>
            <a:ext cx="393192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Consolas"/>
              </a:defRPr>
            </a:pPr>
            <a:r>
              <a:t>public class Main {</a:t>
            </a:r>
            <a:br/>
            <a:r>
              <a:t>    public static void main(String[] args) {</a:t>
            </a:r>
            <a:br/>
            <a:r>
              <a:t>        SwingUtilities.invokeLater(() -&gt; {</a:t>
            </a:r>
            <a:br/>
            <a:r>
              <a:t>            new Login();</a:t>
            </a:r>
            <a:br/>
            <a:r>
              <a:t>        });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4983480"/>
            <a:ext cx="13258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77456" y="5138928"/>
            <a:ext cx="125272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192D4B"/>
                </a:solidFill>
              </a:defRPr>
            </a:pPr>
            <a:r>
              <a:t>Run Program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41080" y="4983480"/>
            <a:ext cx="11430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77655" y="5138928"/>
            <a:ext cx="10698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192D4B"/>
                </a:solidFill>
              </a:defRPr>
            </a:pPr>
            <a:r>
              <a:t>Login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12680" y="4983480"/>
            <a:ext cx="17830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49255" y="5138928"/>
            <a:ext cx="170992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192D4B"/>
                </a:solidFill>
              </a:defRPr>
            </a:pPr>
            <a:r>
              <a:t>SubscriptionManagerGUI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507492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69AA"/>
                </a:solidFill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02368" y="507492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69AA"/>
                </a:solidFill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56832"/>
            <a:ext cx="12191695" cy="1828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0" y="6693408"/>
            <a:ext cx="6400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24128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FFFFFF"/>
                </a:solidFill>
              </a:defRPr>
            </a:pPr>
            <a:r>
              <a:t>• The Subscription Manager provides a simple way to manage monthly and annual subscriptions.</a:t>
            </a:r>
          </a:p>
          <a:p>
            <a:pPr>
              <a:spcAft>
                <a:spcPts val="1800"/>
              </a:spcAft>
              <a:defRPr sz="2000">
                <a:solidFill>
                  <a:srgbClr val="FFFFFF"/>
                </a:solidFill>
              </a:defRPr>
            </a:pPr>
            <a:r>
              <a:t>• It demonstrates abstraction, inheritance, polymorphism, encapsulation and interfaces.</a:t>
            </a:r>
          </a:p>
          <a:p>
            <a:pPr>
              <a:spcAft>
                <a:spcPts val="1800"/>
              </a:spcAft>
              <a:defRPr sz="2000">
                <a:solidFill>
                  <a:srgbClr val="FFFFFF"/>
                </a:solidFill>
              </a:defRPr>
            </a:pPr>
            <a:r>
              <a:t>• Java Swing provides an interactive desktop interface.</a:t>
            </a:r>
          </a:p>
          <a:p>
            <a:pPr>
              <a:spcAft>
                <a:spcPts val="1800"/>
              </a:spcAft>
              <a:defRPr sz="2000">
                <a:solidFill>
                  <a:srgbClr val="FFFFFF"/>
                </a:solidFill>
              </a:defRPr>
            </a:pPr>
            <a:r>
              <a:t>• Budget monitoring and reports help users understand subscription expenses.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DDCF0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