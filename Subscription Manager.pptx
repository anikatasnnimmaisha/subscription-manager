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Archive" charset="1" panose="02000506040000020004"/>
      <p:regular r:id="rId15"/>
    </p:embeddedFont>
    <p:embeddedFont>
      <p:font typeface="Glacial Indifference" charset="1" panose="00000000000000000000"/>
      <p:regular r:id="rId16"/>
    </p:embeddedFont>
    <p:embeddedFont>
      <p:font typeface="Glacial Indifference Bold" charset="1" panose="000008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jpeg" Type="http://schemas.openxmlformats.org/officeDocument/2006/relationships/image"/><Relationship Id="rId8" Target="../media/image7.png" Type="http://schemas.openxmlformats.org/officeDocument/2006/relationships/image"/><Relationship Id="rId9" Target="../media/image8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9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0.png" Type="http://schemas.openxmlformats.org/officeDocument/2006/relationships/image"/><Relationship Id="rId7" Target="../media/image11.png" Type="http://schemas.openxmlformats.org/officeDocument/2006/relationships/image"/><Relationship Id="rId8" Target="../media/image1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3.png" Type="http://schemas.openxmlformats.org/officeDocument/2006/relationships/image"/><Relationship Id="rId7" Target="../media/image14.png" Type="http://schemas.openxmlformats.org/officeDocument/2006/relationships/image"/><Relationship Id="rId8" Target="../media/image15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6.png" Type="http://schemas.openxmlformats.org/officeDocument/2006/relationships/image"/><Relationship Id="rId7" Target="../media/image17.svg" Type="http://schemas.openxmlformats.org/officeDocument/2006/relationships/image"/><Relationship Id="rId8" Target="../media/image1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9.png" Type="http://schemas.openxmlformats.org/officeDocument/2006/relationships/image"/><Relationship Id="rId7" Target="../media/image20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2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22.png" Type="http://schemas.openxmlformats.org/officeDocument/2006/relationships/image"/><Relationship Id="rId7" Target="../media/image23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24.png" Type="http://schemas.openxmlformats.org/officeDocument/2006/relationships/image"/><Relationship Id="rId7" Target="../media/image25.svg" Type="http://schemas.openxmlformats.org/officeDocument/2006/relationships/image"/><Relationship Id="rId8" Target="../media/image26.png" Type="http://schemas.openxmlformats.org/officeDocument/2006/relationships/image"/><Relationship Id="rId9" Target="../media/image27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0E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515652" y="-8543925"/>
            <a:ext cx="13258800" cy="13258800"/>
          </a:xfrm>
          <a:custGeom>
            <a:avLst/>
            <a:gdLst/>
            <a:ahLst/>
            <a:cxnLst/>
            <a:rect r="r" b="b" t="t" l="l"/>
            <a:pathLst>
              <a:path h="13258800" w="13258800">
                <a:moveTo>
                  <a:pt x="0" y="0"/>
                </a:moveTo>
                <a:lnTo>
                  <a:pt x="13258800" y="0"/>
                </a:lnTo>
                <a:lnTo>
                  <a:pt x="13258800" y="13258800"/>
                </a:lnTo>
                <a:lnTo>
                  <a:pt x="0" y="13258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5143500"/>
            <a:ext cx="1218104" cy="1180453"/>
          </a:xfrm>
          <a:custGeom>
            <a:avLst/>
            <a:gdLst/>
            <a:ahLst/>
            <a:cxnLst/>
            <a:rect r="r" b="b" t="t" l="l"/>
            <a:pathLst>
              <a:path h="1180453" w="1218104">
                <a:moveTo>
                  <a:pt x="0" y="0"/>
                </a:moveTo>
                <a:lnTo>
                  <a:pt x="1218104" y="0"/>
                </a:lnTo>
                <a:lnTo>
                  <a:pt x="1218104" y="1180453"/>
                </a:lnTo>
                <a:lnTo>
                  <a:pt x="0" y="11804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00661" y="7091294"/>
            <a:ext cx="1218104" cy="1180453"/>
          </a:xfrm>
          <a:custGeom>
            <a:avLst/>
            <a:gdLst/>
            <a:ahLst/>
            <a:cxnLst/>
            <a:rect r="r" b="b" t="t" l="l"/>
            <a:pathLst>
              <a:path h="1180453" w="1218104">
                <a:moveTo>
                  <a:pt x="0" y="0"/>
                </a:moveTo>
                <a:lnTo>
                  <a:pt x="1218104" y="0"/>
                </a:lnTo>
                <a:lnTo>
                  <a:pt x="1218104" y="1180453"/>
                </a:lnTo>
                <a:lnTo>
                  <a:pt x="0" y="11804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982413" y="8621945"/>
            <a:ext cx="1218104" cy="1180453"/>
          </a:xfrm>
          <a:custGeom>
            <a:avLst/>
            <a:gdLst/>
            <a:ahLst/>
            <a:cxnLst/>
            <a:rect r="r" b="b" t="t" l="l"/>
            <a:pathLst>
              <a:path h="1180453" w="1218104">
                <a:moveTo>
                  <a:pt x="0" y="0"/>
                </a:moveTo>
                <a:lnTo>
                  <a:pt x="1218104" y="0"/>
                </a:lnTo>
                <a:lnTo>
                  <a:pt x="1218104" y="1180454"/>
                </a:lnTo>
                <a:lnTo>
                  <a:pt x="0" y="11804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591465" y="1028700"/>
            <a:ext cx="1218104" cy="1180453"/>
          </a:xfrm>
          <a:custGeom>
            <a:avLst/>
            <a:gdLst/>
            <a:ahLst/>
            <a:cxnLst/>
            <a:rect r="r" b="b" t="t" l="l"/>
            <a:pathLst>
              <a:path h="1180453" w="1218104">
                <a:moveTo>
                  <a:pt x="0" y="0"/>
                </a:moveTo>
                <a:lnTo>
                  <a:pt x="1218103" y="0"/>
                </a:lnTo>
                <a:lnTo>
                  <a:pt x="1218103" y="1180453"/>
                </a:lnTo>
                <a:lnTo>
                  <a:pt x="0" y="11804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798713" y="4335944"/>
            <a:ext cx="1218104" cy="1180453"/>
          </a:xfrm>
          <a:custGeom>
            <a:avLst/>
            <a:gdLst/>
            <a:ahLst/>
            <a:cxnLst/>
            <a:rect r="r" b="b" t="t" l="l"/>
            <a:pathLst>
              <a:path h="1180453" w="1218104">
                <a:moveTo>
                  <a:pt x="0" y="0"/>
                </a:moveTo>
                <a:lnTo>
                  <a:pt x="1218104" y="0"/>
                </a:lnTo>
                <a:lnTo>
                  <a:pt x="1218104" y="1180453"/>
                </a:lnTo>
                <a:lnTo>
                  <a:pt x="0" y="11804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266243" y="2209153"/>
            <a:ext cx="2993057" cy="2119485"/>
          </a:xfrm>
          <a:custGeom>
            <a:avLst/>
            <a:gdLst/>
            <a:ahLst/>
            <a:cxnLst/>
            <a:rect r="r" b="b" t="t" l="l"/>
            <a:pathLst>
              <a:path h="2119485" w="2993057">
                <a:moveTo>
                  <a:pt x="0" y="0"/>
                </a:moveTo>
                <a:lnTo>
                  <a:pt x="2993057" y="0"/>
                </a:lnTo>
                <a:lnTo>
                  <a:pt x="2993057" y="2119485"/>
                </a:lnTo>
                <a:lnTo>
                  <a:pt x="0" y="211948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305123" y="4218218"/>
            <a:ext cx="2394662" cy="2394662"/>
          </a:xfrm>
          <a:custGeom>
            <a:avLst/>
            <a:gdLst/>
            <a:ahLst/>
            <a:cxnLst/>
            <a:rect r="r" b="b" t="t" l="l"/>
            <a:pathLst>
              <a:path h="2394662" w="2394662">
                <a:moveTo>
                  <a:pt x="0" y="0"/>
                </a:moveTo>
                <a:lnTo>
                  <a:pt x="2394663" y="0"/>
                </a:lnTo>
                <a:lnTo>
                  <a:pt x="2394663" y="2394663"/>
                </a:lnTo>
                <a:lnTo>
                  <a:pt x="0" y="239466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7914437" y="6750192"/>
            <a:ext cx="3390686" cy="2727291"/>
          </a:xfrm>
          <a:custGeom>
            <a:avLst/>
            <a:gdLst/>
            <a:ahLst/>
            <a:cxnLst/>
            <a:rect r="r" b="b" t="t" l="l"/>
            <a:pathLst>
              <a:path h="2727291" w="3390686">
                <a:moveTo>
                  <a:pt x="0" y="0"/>
                </a:moveTo>
                <a:lnTo>
                  <a:pt x="3390686" y="0"/>
                </a:lnTo>
                <a:lnTo>
                  <a:pt x="3390686" y="2727291"/>
                </a:lnTo>
                <a:lnTo>
                  <a:pt x="0" y="272729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796432" y="6889098"/>
            <a:ext cx="4220385" cy="2449478"/>
          </a:xfrm>
          <a:custGeom>
            <a:avLst/>
            <a:gdLst/>
            <a:ahLst/>
            <a:cxnLst/>
            <a:rect r="r" b="b" t="t" l="l"/>
            <a:pathLst>
              <a:path h="2449478" w="4220385">
                <a:moveTo>
                  <a:pt x="0" y="0"/>
                </a:moveTo>
                <a:lnTo>
                  <a:pt x="4220385" y="0"/>
                </a:lnTo>
                <a:lnTo>
                  <a:pt x="4220385" y="2449478"/>
                </a:lnTo>
                <a:lnTo>
                  <a:pt x="0" y="244947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26669" y="597394"/>
            <a:ext cx="9073190" cy="2597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99"/>
              </a:lnSpc>
            </a:pPr>
            <a:r>
              <a:rPr lang="en-US" sz="9711">
                <a:solidFill>
                  <a:srgbClr val="224C8D"/>
                </a:solidFill>
                <a:latin typeface="Archive"/>
                <a:ea typeface="Archive"/>
                <a:cs typeface="Archive"/>
                <a:sym typeface="Archive"/>
              </a:rPr>
              <a:t>Subscription Manager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531170" y="4503807"/>
            <a:ext cx="5783193" cy="5783193"/>
          </a:xfrm>
          <a:custGeom>
            <a:avLst/>
            <a:gdLst/>
            <a:ahLst/>
            <a:cxnLst/>
            <a:rect r="r" b="b" t="t" l="l"/>
            <a:pathLst>
              <a:path h="5783193" w="5783193">
                <a:moveTo>
                  <a:pt x="0" y="0"/>
                </a:moveTo>
                <a:lnTo>
                  <a:pt x="5783192" y="0"/>
                </a:lnTo>
                <a:lnTo>
                  <a:pt x="5783192" y="5783193"/>
                </a:lnTo>
                <a:lnTo>
                  <a:pt x="0" y="57831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2103389" y="6699615"/>
            <a:ext cx="4926349" cy="1545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7"/>
              </a:lnSpc>
            </a:pPr>
            <a:r>
              <a:rPr lang="en-US" sz="1949">
                <a:solidFill>
                  <a:srgbClr val="224C8D"/>
                </a:solidFill>
                <a:latin typeface="Archive"/>
                <a:ea typeface="Archive"/>
                <a:cs typeface="Archive"/>
                <a:sym typeface="Archive"/>
              </a:rPr>
              <a:t>Team members:</a:t>
            </a:r>
          </a:p>
          <a:p>
            <a:pPr algn="l" marL="420981" indent="-210491" lvl="1">
              <a:lnSpc>
                <a:spcPts val="2027"/>
              </a:lnSpc>
              <a:buAutoNum type="arabicPeriod" startAt="1"/>
            </a:pPr>
            <a:r>
              <a:rPr lang="en-US" sz="1949">
                <a:solidFill>
                  <a:srgbClr val="224C8D"/>
                </a:solidFill>
                <a:latin typeface="Archive"/>
                <a:ea typeface="Archive"/>
                <a:cs typeface="Archive"/>
                <a:sym typeface="Archive"/>
              </a:rPr>
              <a:t>Shifa binte ahsan - 2524764042</a:t>
            </a:r>
          </a:p>
          <a:p>
            <a:pPr algn="l" marL="420981" indent="-210491" lvl="1">
              <a:lnSpc>
                <a:spcPts val="2027"/>
              </a:lnSpc>
              <a:buAutoNum type="arabicPeriod" startAt="1"/>
            </a:pPr>
            <a:r>
              <a:rPr lang="en-US" sz="1949">
                <a:solidFill>
                  <a:srgbClr val="224C8D"/>
                </a:solidFill>
                <a:latin typeface="Archive"/>
                <a:ea typeface="Archive"/>
                <a:cs typeface="Archive"/>
                <a:sym typeface="Archive"/>
              </a:rPr>
              <a:t>fatema jahan hafsha - 2533509042</a:t>
            </a:r>
          </a:p>
          <a:p>
            <a:pPr algn="l" marL="420981" indent="-210491" lvl="1">
              <a:lnSpc>
                <a:spcPts val="2027"/>
              </a:lnSpc>
              <a:buAutoNum type="arabicPeriod" startAt="1"/>
            </a:pPr>
            <a:r>
              <a:rPr lang="en-US" sz="1949">
                <a:solidFill>
                  <a:srgbClr val="224C8D"/>
                </a:solidFill>
                <a:latin typeface="Archive"/>
                <a:ea typeface="Archive"/>
                <a:cs typeface="Archive"/>
                <a:sym typeface="Archive"/>
              </a:rPr>
              <a:t>anika tasnim maisha - 2534689042</a:t>
            </a:r>
          </a:p>
          <a:p>
            <a:pPr algn="l" marL="420981" indent="-210491" lvl="1">
              <a:lnSpc>
                <a:spcPts val="2027"/>
              </a:lnSpc>
              <a:buAutoNum type="arabicPeriod" startAt="1"/>
            </a:pPr>
            <a:r>
              <a:rPr lang="en-US" sz="1949">
                <a:solidFill>
                  <a:srgbClr val="224C8D"/>
                </a:solidFill>
                <a:latin typeface="Archive"/>
                <a:ea typeface="Archive"/>
                <a:cs typeface="Archive"/>
                <a:sym typeface="Archive"/>
              </a:rPr>
              <a:t>nafisa tasnim mysha - 2533885042</a:t>
            </a:r>
          </a:p>
          <a:p>
            <a:pPr algn="l">
              <a:lnSpc>
                <a:spcPts val="2027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0E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133588" y="-1276655"/>
            <a:ext cx="13258800" cy="13258800"/>
          </a:xfrm>
          <a:custGeom>
            <a:avLst/>
            <a:gdLst/>
            <a:ahLst/>
            <a:cxnLst/>
            <a:rect r="r" b="b" t="t" l="l"/>
            <a:pathLst>
              <a:path h="13258800" w="13258800">
                <a:moveTo>
                  <a:pt x="0" y="0"/>
                </a:moveTo>
                <a:lnTo>
                  <a:pt x="13258800" y="0"/>
                </a:lnTo>
                <a:lnTo>
                  <a:pt x="13258800" y="13258800"/>
                </a:lnTo>
                <a:lnTo>
                  <a:pt x="0" y="13258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042918" y="995992"/>
            <a:ext cx="1218104" cy="1180453"/>
          </a:xfrm>
          <a:custGeom>
            <a:avLst/>
            <a:gdLst/>
            <a:ahLst/>
            <a:cxnLst/>
            <a:rect r="r" b="b" t="t" l="l"/>
            <a:pathLst>
              <a:path h="1180453" w="1218104">
                <a:moveTo>
                  <a:pt x="0" y="0"/>
                </a:moveTo>
                <a:lnTo>
                  <a:pt x="1218104" y="0"/>
                </a:lnTo>
                <a:lnTo>
                  <a:pt x="1218104" y="1180453"/>
                </a:lnTo>
                <a:lnTo>
                  <a:pt x="0" y="11804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403431" y="3427425"/>
            <a:ext cx="7884569" cy="6859575"/>
          </a:xfrm>
          <a:custGeom>
            <a:avLst/>
            <a:gdLst/>
            <a:ahLst/>
            <a:cxnLst/>
            <a:rect r="r" b="b" t="t" l="l"/>
            <a:pathLst>
              <a:path h="6859575" w="7884569">
                <a:moveTo>
                  <a:pt x="0" y="0"/>
                </a:moveTo>
                <a:lnTo>
                  <a:pt x="7884569" y="0"/>
                </a:lnTo>
                <a:lnTo>
                  <a:pt x="7884569" y="6859575"/>
                </a:lnTo>
                <a:lnTo>
                  <a:pt x="0" y="68595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04785" y="5513479"/>
            <a:ext cx="6854522" cy="445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07146" indent="-353573" lvl="1">
              <a:lnSpc>
                <a:spcPts val="3930"/>
              </a:lnSpc>
              <a:buFont typeface="Arial"/>
              <a:buChar char="•"/>
            </a:pPr>
            <a:r>
              <a:rPr lang="en-US" sz="3275">
                <a:solidFill>
                  <a:srgbClr val="37373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Keeps track of different subscriptions</a:t>
            </a:r>
          </a:p>
          <a:p>
            <a:pPr algn="l" marL="707146" indent="-353573" lvl="1">
              <a:lnSpc>
                <a:spcPts val="3930"/>
              </a:lnSpc>
              <a:buFont typeface="Arial"/>
              <a:buChar char="•"/>
            </a:pPr>
            <a:r>
              <a:rPr lang="en-US" sz="3275">
                <a:solidFill>
                  <a:srgbClr val="37373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Stores subscription information</a:t>
            </a:r>
          </a:p>
          <a:p>
            <a:pPr algn="l" marL="707146" indent="-353573" lvl="1">
              <a:lnSpc>
                <a:spcPts val="3930"/>
              </a:lnSpc>
              <a:buFont typeface="Arial"/>
              <a:buChar char="•"/>
            </a:pPr>
            <a:r>
              <a:rPr lang="en-US" sz="3275">
                <a:solidFill>
                  <a:srgbClr val="37373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Monitors monthly expenses</a:t>
            </a:r>
          </a:p>
          <a:p>
            <a:pPr algn="l" marL="707146" indent="-353573" lvl="1">
              <a:lnSpc>
                <a:spcPts val="3930"/>
              </a:lnSpc>
              <a:buFont typeface="Arial"/>
              <a:buChar char="•"/>
            </a:pPr>
            <a:r>
              <a:rPr lang="en-US" sz="3275">
                <a:solidFill>
                  <a:srgbClr val="37373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Helps users stay within their budget</a:t>
            </a:r>
          </a:p>
          <a:p>
            <a:pPr algn="l" marL="707146" indent="-353573" lvl="1">
              <a:lnSpc>
                <a:spcPts val="3930"/>
              </a:lnSpc>
              <a:buFont typeface="Arial"/>
              <a:buChar char="•"/>
            </a:pPr>
            <a:r>
              <a:rPr lang="en-US" sz="3275">
                <a:solidFill>
                  <a:srgbClr val="37373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Allows subscriptions to be cancelled</a:t>
            </a:r>
          </a:p>
          <a:p>
            <a:pPr algn="l" marL="707146" indent="-353573" lvl="1">
              <a:lnSpc>
                <a:spcPts val="3930"/>
              </a:lnSpc>
              <a:buFont typeface="Arial"/>
              <a:buChar char="•"/>
            </a:pPr>
            <a:r>
              <a:rPr lang="en-US" sz="3275">
                <a:solidFill>
                  <a:srgbClr val="37373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Provides a simple expense report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697877"/>
            <a:ext cx="6854522" cy="2654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80"/>
              </a:lnSpc>
            </a:pPr>
            <a:r>
              <a:rPr lang="en-US" sz="6615">
                <a:solidFill>
                  <a:srgbClr val="224C8D"/>
                </a:solidFill>
                <a:latin typeface="Archive"/>
                <a:ea typeface="Archive"/>
                <a:cs typeface="Archive"/>
                <a:sym typeface="Archive"/>
              </a:rPr>
              <a:t>W</a:t>
            </a:r>
            <a:r>
              <a:rPr lang="en-US" sz="6615">
                <a:solidFill>
                  <a:srgbClr val="224C8D"/>
                </a:solidFill>
                <a:latin typeface="Archive"/>
                <a:ea typeface="Archive"/>
                <a:cs typeface="Archive"/>
                <a:sym typeface="Archive"/>
              </a:rPr>
              <a:t>hat is Subscription Manager?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0E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974250" y="-1121118"/>
            <a:ext cx="13258800" cy="13258800"/>
          </a:xfrm>
          <a:custGeom>
            <a:avLst/>
            <a:gdLst/>
            <a:ahLst/>
            <a:cxnLst/>
            <a:rect r="r" b="b" t="t" l="l"/>
            <a:pathLst>
              <a:path h="13258800" w="13258800">
                <a:moveTo>
                  <a:pt x="0" y="0"/>
                </a:moveTo>
                <a:lnTo>
                  <a:pt x="13258800" y="0"/>
                </a:lnTo>
                <a:lnTo>
                  <a:pt x="13258800" y="13258800"/>
                </a:lnTo>
                <a:lnTo>
                  <a:pt x="0" y="13258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646846" y="1853242"/>
            <a:ext cx="1218104" cy="1180453"/>
          </a:xfrm>
          <a:custGeom>
            <a:avLst/>
            <a:gdLst/>
            <a:ahLst/>
            <a:cxnLst/>
            <a:rect r="r" b="b" t="t" l="l"/>
            <a:pathLst>
              <a:path h="1180453" w="1218104">
                <a:moveTo>
                  <a:pt x="0" y="0"/>
                </a:moveTo>
                <a:lnTo>
                  <a:pt x="1218103" y="0"/>
                </a:lnTo>
                <a:lnTo>
                  <a:pt x="1218103" y="1180453"/>
                </a:lnTo>
                <a:lnTo>
                  <a:pt x="0" y="11804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980827" y="1853242"/>
            <a:ext cx="2901636" cy="2582456"/>
          </a:xfrm>
          <a:custGeom>
            <a:avLst/>
            <a:gdLst/>
            <a:ahLst/>
            <a:cxnLst/>
            <a:rect r="r" b="b" t="t" l="l"/>
            <a:pathLst>
              <a:path h="2582456" w="2901636">
                <a:moveTo>
                  <a:pt x="0" y="0"/>
                </a:moveTo>
                <a:lnTo>
                  <a:pt x="2901636" y="0"/>
                </a:lnTo>
                <a:lnTo>
                  <a:pt x="2901636" y="2582456"/>
                </a:lnTo>
                <a:lnTo>
                  <a:pt x="0" y="258245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091992" y="3240969"/>
            <a:ext cx="2517460" cy="3107975"/>
          </a:xfrm>
          <a:custGeom>
            <a:avLst/>
            <a:gdLst/>
            <a:ahLst/>
            <a:cxnLst/>
            <a:rect r="r" b="b" t="t" l="l"/>
            <a:pathLst>
              <a:path h="3107975" w="2517460">
                <a:moveTo>
                  <a:pt x="0" y="0"/>
                </a:moveTo>
                <a:lnTo>
                  <a:pt x="2517460" y="0"/>
                </a:lnTo>
                <a:lnTo>
                  <a:pt x="2517460" y="3107975"/>
                </a:lnTo>
                <a:lnTo>
                  <a:pt x="0" y="31079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550091" y="6165270"/>
            <a:ext cx="3276360" cy="3522968"/>
          </a:xfrm>
          <a:custGeom>
            <a:avLst/>
            <a:gdLst/>
            <a:ahLst/>
            <a:cxnLst/>
            <a:rect r="r" b="b" t="t" l="l"/>
            <a:pathLst>
              <a:path h="3522968" w="3276360">
                <a:moveTo>
                  <a:pt x="0" y="0"/>
                </a:moveTo>
                <a:lnTo>
                  <a:pt x="3276360" y="0"/>
                </a:lnTo>
                <a:lnTo>
                  <a:pt x="3276360" y="3522967"/>
                </a:lnTo>
                <a:lnTo>
                  <a:pt x="0" y="352296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199296" y="1696762"/>
            <a:ext cx="9044668" cy="799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85556" indent="-342778" lvl="1">
              <a:lnSpc>
                <a:spcPts val="3810"/>
              </a:lnSpc>
              <a:buFont typeface="Arial"/>
              <a:buChar char="•"/>
            </a:pPr>
            <a:r>
              <a:rPr lang="en-US" b="true" sz="3175">
                <a:solidFill>
                  <a:srgbClr val="234C7B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Add Subs</a:t>
            </a:r>
            <a:r>
              <a:rPr lang="en-US" b="true" sz="3175">
                <a:solidFill>
                  <a:srgbClr val="234C7B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cription</a:t>
            </a:r>
          </a:p>
          <a:p>
            <a:pPr algn="l">
              <a:lnSpc>
                <a:spcPts val="3690"/>
              </a:lnSpc>
            </a:pPr>
            <a:r>
              <a:rPr lang="en-US" sz="3075" b="true">
                <a:solidFill>
                  <a:srgbClr val="373737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           - Monthly or annual</a:t>
            </a:r>
          </a:p>
          <a:p>
            <a:pPr algn="l">
              <a:lnSpc>
                <a:spcPts val="3690"/>
              </a:lnSpc>
            </a:pPr>
            <a:r>
              <a:rPr lang="en-US" sz="3075" b="true">
                <a:solidFill>
                  <a:srgbClr val="373737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           - </a:t>
            </a:r>
            <a:r>
              <a:rPr lang="en-US" sz="3075" b="true">
                <a:solidFill>
                  <a:srgbClr val="373737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Name, ID, cost, payment </a:t>
            </a:r>
          </a:p>
          <a:p>
            <a:pPr algn="l">
              <a:lnSpc>
                <a:spcPts val="3690"/>
              </a:lnSpc>
            </a:pPr>
            <a:r>
              <a:rPr lang="en-US" sz="3075" b="true">
                <a:solidFill>
                  <a:srgbClr val="373737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             method, etc.</a:t>
            </a:r>
          </a:p>
          <a:p>
            <a:pPr algn="l" marL="685556" indent="-342778" lvl="1">
              <a:lnSpc>
                <a:spcPts val="3810"/>
              </a:lnSpc>
              <a:buFont typeface="Arial"/>
              <a:buChar char="•"/>
            </a:pPr>
            <a:r>
              <a:rPr lang="en-US" b="true" sz="3175">
                <a:solidFill>
                  <a:srgbClr val="234C7B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View Subscriptions</a:t>
            </a:r>
          </a:p>
          <a:p>
            <a:pPr algn="l">
              <a:lnSpc>
                <a:spcPts val="3690"/>
              </a:lnSpc>
            </a:pPr>
            <a:r>
              <a:rPr lang="en-US" sz="3075" b="true">
                <a:solidFill>
                  <a:srgbClr val="373737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           -</a:t>
            </a:r>
            <a:r>
              <a:rPr lang="en-US" sz="3075" b="true">
                <a:solidFill>
                  <a:srgbClr val="373737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Displays all saved </a:t>
            </a:r>
          </a:p>
          <a:p>
            <a:pPr algn="l">
              <a:lnSpc>
                <a:spcPts val="3690"/>
              </a:lnSpc>
            </a:pPr>
            <a:r>
              <a:rPr lang="en-US" sz="3075" b="true">
                <a:solidFill>
                  <a:srgbClr val="373737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            subscriptions</a:t>
            </a:r>
          </a:p>
          <a:p>
            <a:pPr algn="l" marL="685556" indent="-342778" lvl="1">
              <a:lnSpc>
                <a:spcPts val="3810"/>
              </a:lnSpc>
              <a:buFont typeface="Arial"/>
              <a:buChar char="•"/>
            </a:pPr>
            <a:r>
              <a:rPr lang="en-US" b="true" sz="3175">
                <a:solidFill>
                  <a:srgbClr val="234C7B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Budget Tracking</a:t>
            </a:r>
          </a:p>
          <a:p>
            <a:pPr algn="l">
              <a:lnSpc>
                <a:spcPts val="3690"/>
              </a:lnSpc>
            </a:pPr>
            <a:r>
              <a:rPr lang="en-US" sz="3075" b="true">
                <a:solidFill>
                  <a:srgbClr val="373737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           -</a:t>
            </a:r>
            <a:r>
              <a:rPr lang="en-US" sz="3075" b="true">
                <a:solidFill>
                  <a:srgbClr val="373737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Shows how much of the budget </a:t>
            </a:r>
          </a:p>
          <a:p>
            <a:pPr algn="l">
              <a:lnSpc>
                <a:spcPts val="3690"/>
              </a:lnSpc>
            </a:pPr>
            <a:r>
              <a:rPr lang="en-US" sz="3075" b="true">
                <a:solidFill>
                  <a:srgbClr val="373737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             is being used</a:t>
            </a:r>
          </a:p>
          <a:p>
            <a:pPr algn="l" marL="685556" indent="-342778" lvl="1">
              <a:lnSpc>
                <a:spcPts val="3810"/>
              </a:lnSpc>
              <a:buFont typeface="Arial"/>
              <a:buChar char="•"/>
            </a:pPr>
            <a:r>
              <a:rPr lang="en-US" b="true" sz="3175">
                <a:solidFill>
                  <a:srgbClr val="234C7B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Cancel Subscription</a:t>
            </a:r>
          </a:p>
          <a:p>
            <a:pPr algn="l">
              <a:lnSpc>
                <a:spcPts val="3690"/>
              </a:lnSpc>
            </a:pPr>
            <a:r>
              <a:rPr lang="en-US" sz="3075" b="true">
                <a:solidFill>
                  <a:srgbClr val="373737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           -</a:t>
            </a:r>
            <a:r>
              <a:rPr lang="en-US" sz="3075" b="true">
                <a:solidFill>
                  <a:srgbClr val="373737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Allows active subscriptions to </a:t>
            </a:r>
          </a:p>
          <a:p>
            <a:pPr algn="l">
              <a:lnSpc>
                <a:spcPts val="3690"/>
              </a:lnSpc>
            </a:pPr>
            <a:r>
              <a:rPr lang="en-US" sz="3075" b="true">
                <a:solidFill>
                  <a:srgbClr val="373737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            be cancelled</a:t>
            </a:r>
          </a:p>
          <a:p>
            <a:pPr algn="l" marL="685556" indent="-342778" lvl="1">
              <a:lnSpc>
                <a:spcPts val="3810"/>
              </a:lnSpc>
              <a:buFont typeface="Arial"/>
              <a:buChar char="•"/>
            </a:pPr>
            <a:r>
              <a:rPr lang="en-US" b="true" sz="3175">
                <a:solidFill>
                  <a:srgbClr val="234C7B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Summary Report</a:t>
            </a:r>
          </a:p>
          <a:p>
            <a:pPr algn="l">
              <a:lnSpc>
                <a:spcPts val="3690"/>
              </a:lnSpc>
            </a:pPr>
            <a:r>
              <a:rPr lang="en-US" sz="3075" b="true">
                <a:solidFill>
                  <a:srgbClr val="373737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           -</a:t>
            </a:r>
            <a:r>
              <a:rPr lang="en-US" sz="3075" b="true">
                <a:solidFill>
                  <a:srgbClr val="373737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Shows subscription and </a:t>
            </a:r>
          </a:p>
          <a:p>
            <a:pPr algn="l">
              <a:lnSpc>
                <a:spcPts val="3690"/>
              </a:lnSpc>
            </a:pPr>
            <a:r>
              <a:rPr lang="en-US" sz="3075" b="true">
                <a:solidFill>
                  <a:srgbClr val="373737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             expense information</a:t>
            </a:r>
          </a:p>
          <a:p>
            <a:pPr algn="l">
              <a:lnSpc>
                <a:spcPts val="3690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7792324" y="623344"/>
            <a:ext cx="6854522" cy="905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80"/>
              </a:lnSpc>
            </a:pPr>
            <a:r>
              <a:rPr lang="en-US" sz="6615">
                <a:solidFill>
                  <a:srgbClr val="224C8D"/>
                </a:solidFill>
                <a:latin typeface="Archive"/>
                <a:ea typeface="Archive"/>
                <a:cs typeface="Archive"/>
                <a:sym typeface="Archive"/>
              </a:rPr>
              <a:t> Main Features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536884" y="4600357"/>
            <a:ext cx="3789521" cy="436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44"/>
              </a:lnSpc>
              <a:spcBef>
                <a:spcPct val="0"/>
              </a:spcBef>
            </a:pPr>
            <a:r>
              <a:rPr lang="en-US" sz="3216">
                <a:solidFill>
                  <a:srgbClr val="234C7B"/>
                </a:solidFill>
                <a:latin typeface="Archive"/>
                <a:ea typeface="Archive"/>
                <a:cs typeface="Archive"/>
                <a:sym typeface="Archive"/>
              </a:rPr>
              <a:t>enjoying netflix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737225" y="9735862"/>
            <a:ext cx="4276725" cy="436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44"/>
              </a:lnSpc>
              <a:spcBef>
                <a:spcPct val="0"/>
              </a:spcBef>
            </a:pPr>
            <a:r>
              <a:rPr lang="en-US" sz="3216">
                <a:solidFill>
                  <a:srgbClr val="234C7B"/>
                </a:solidFill>
                <a:latin typeface="Archive"/>
                <a:ea typeface="Archive"/>
                <a:cs typeface="Archive"/>
                <a:sym typeface="Archive"/>
              </a:rPr>
              <a:t>working out in gym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413445" y="6407495"/>
            <a:ext cx="3874555" cy="855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44"/>
              </a:lnSpc>
              <a:spcBef>
                <a:spcPct val="0"/>
              </a:spcBef>
            </a:pPr>
            <a:r>
              <a:rPr lang="en-US" sz="3216">
                <a:solidFill>
                  <a:srgbClr val="234C7B"/>
                </a:solidFill>
                <a:latin typeface="Archive"/>
                <a:ea typeface="Archive"/>
                <a:cs typeface="Archive"/>
                <a:sym typeface="Archive"/>
              </a:rPr>
              <a:t>listening to spotify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5507172" y="8077847"/>
            <a:ext cx="1218104" cy="1180453"/>
          </a:xfrm>
          <a:custGeom>
            <a:avLst/>
            <a:gdLst/>
            <a:ahLst/>
            <a:cxnLst/>
            <a:rect r="r" b="b" t="t" l="l"/>
            <a:pathLst>
              <a:path h="1180453" w="1218104">
                <a:moveTo>
                  <a:pt x="0" y="0"/>
                </a:moveTo>
                <a:lnTo>
                  <a:pt x="1218103" y="0"/>
                </a:lnTo>
                <a:lnTo>
                  <a:pt x="1218103" y="1180453"/>
                </a:lnTo>
                <a:lnTo>
                  <a:pt x="0" y="11804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0E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30498" y="0"/>
            <a:ext cx="16027003" cy="16027003"/>
          </a:xfrm>
          <a:custGeom>
            <a:avLst/>
            <a:gdLst/>
            <a:ahLst/>
            <a:cxnLst/>
            <a:rect r="r" b="b" t="t" l="l"/>
            <a:pathLst>
              <a:path h="16027003" w="16027003">
                <a:moveTo>
                  <a:pt x="0" y="0"/>
                </a:moveTo>
                <a:lnTo>
                  <a:pt x="16027004" y="0"/>
                </a:lnTo>
                <a:lnTo>
                  <a:pt x="16027004" y="16027003"/>
                </a:lnTo>
                <a:lnTo>
                  <a:pt x="0" y="160270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62523" y="1317460"/>
            <a:ext cx="1218104" cy="1180453"/>
          </a:xfrm>
          <a:custGeom>
            <a:avLst/>
            <a:gdLst/>
            <a:ahLst/>
            <a:cxnLst/>
            <a:rect r="r" b="b" t="t" l="l"/>
            <a:pathLst>
              <a:path h="1180453" w="1218104">
                <a:moveTo>
                  <a:pt x="0" y="0"/>
                </a:moveTo>
                <a:lnTo>
                  <a:pt x="1218104" y="0"/>
                </a:lnTo>
                <a:lnTo>
                  <a:pt x="1218104" y="1180453"/>
                </a:lnTo>
                <a:lnTo>
                  <a:pt x="0" y="11804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169800" y="1907687"/>
            <a:ext cx="1218104" cy="1180453"/>
          </a:xfrm>
          <a:custGeom>
            <a:avLst/>
            <a:gdLst/>
            <a:ahLst/>
            <a:cxnLst/>
            <a:rect r="r" b="b" t="t" l="l"/>
            <a:pathLst>
              <a:path h="1180453" w="1218104">
                <a:moveTo>
                  <a:pt x="0" y="0"/>
                </a:moveTo>
                <a:lnTo>
                  <a:pt x="1218104" y="0"/>
                </a:lnTo>
                <a:lnTo>
                  <a:pt x="1218104" y="1180453"/>
                </a:lnTo>
                <a:lnTo>
                  <a:pt x="0" y="11804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881357" y="1907687"/>
            <a:ext cx="3480174" cy="3462773"/>
          </a:xfrm>
          <a:custGeom>
            <a:avLst/>
            <a:gdLst/>
            <a:ahLst/>
            <a:cxnLst/>
            <a:rect r="r" b="b" t="t" l="l"/>
            <a:pathLst>
              <a:path h="3462773" w="3480174">
                <a:moveTo>
                  <a:pt x="0" y="0"/>
                </a:moveTo>
                <a:lnTo>
                  <a:pt x="3480174" y="0"/>
                </a:lnTo>
                <a:lnTo>
                  <a:pt x="3480174" y="3462773"/>
                </a:lnTo>
                <a:lnTo>
                  <a:pt x="0" y="346277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621444" y="7244886"/>
            <a:ext cx="2975481" cy="2975481"/>
          </a:xfrm>
          <a:custGeom>
            <a:avLst/>
            <a:gdLst/>
            <a:ahLst/>
            <a:cxnLst/>
            <a:rect r="r" b="b" t="t" l="l"/>
            <a:pathLst>
              <a:path h="2975481" w="2975481">
                <a:moveTo>
                  <a:pt x="0" y="0"/>
                </a:moveTo>
                <a:lnTo>
                  <a:pt x="2975482" y="0"/>
                </a:lnTo>
                <a:lnTo>
                  <a:pt x="2975482" y="2975482"/>
                </a:lnTo>
                <a:lnTo>
                  <a:pt x="0" y="297548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9144000" y="4579727"/>
            <a:ext cx="7574729" cy="415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6"/>
              </a:lnSpc>
            </a:pPr>
            <a:r>
              <a:rPr lang="en-US" sz="3080">
                <a:solidFill>
                  <a:srgbClr val="37373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</a:t>
            </a:r>
            <a:r>
              <a:rPr lang="en-US" sz="3080">
                <a:solidFill>
                  <a:srgbClr val="37373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he system supports two types:</a:t>
            </a:r>
          </a:p>
          <a:p>
            <a:pPr algn="l">
              <a:lnSpc>
                <a:spcPts val="3816"/>
              </a:lnSpc>
            </a:pPr>
            <a:r>
              <a:rPr lang="en-US" sz="3180" b="true">
                <a:solidFill>
                  <a:srgbClr val="234C7B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Monthly Subscription</a:t>
            </a:r>
          </a:p>
          <a:p>
            <a:pPr algn="l" marL="665147" indent="-332574" lvl="1">
              <a:lnSpc>
                <a:spcPts val="3696"/>
              </a:lnSpc>
              <a:buFont typeface="Arial"/>
              <a:buChar char="•"/>
            </a:pPr>
            <a:r>
              <a:rPr lang="en-US" sz="3080">
                <a:solidFill>
                  <a:srgbClr val="37373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Paid on a monthly basis</a:t>
            </a:r>
          </a:p>
          <a:p>
            <a:pPr algn="l" marL="665147" indent="-332574" lvl="1">
              <a:lnSpc>
                <a:spcPts val="3696"/>
              </a:lnSpc>
              <a:buFont typeface="Arial"/>
              <a:buChar char="•"/>
            </a:pPr>
            <a:r>
              <a:rPr lang="en-US" sz="3080">
                <a:solidFill>
                  <a:srgbClr val="37373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Monthly cost is used directly</a:t>
            </a:r>
          </a:p>
          <a:p>
            <a:pPr algn="l">
              <a:lnSpc>
                <a:spcPts val="3816"/>
              </a:lnSpc>
            </a:pPr>
            <a:r>
              <a:rPr lang="en-US" sz="3180" b="true">
                <a:solidFill>
                  <a:srgbClr val="234C7B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Annual Subscription</a:t>
            </a:r>
          </a:p>
          <a:p>
            <a:pPr algn="l" marL="665147" indent="-332574" lvl="1">
              <a:lnSpc>
                <a:spcPts val="3696"/>
              </a:lnSpc>
              <a:buFont typeface="Arial"/>
              <a:buChar char="•"/>
            </a:pPr>
            <a:r>
              <a:rPr lang="en-US" sz="3080">
                <a:solidFill>
                  <a:srgbClr val="37373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Paid for a year</a:t>
            </a:r>
          </a:p>
          <a:p>
            <a:pPr algn="l" marL="665147" indent="-332574" lvl="1">
              <a:lnSpc>
                <a:spcPts val="3696"/>
              </a:lnSpc>
              <a:buFont typeface="Arial"/>
              <a:buChar char="•"/>
            </a:pPr>
            <a:r>
              <a:rPr lang="en-US" sz="3080">
                <a:solidFill>
                  <a:srgbClr val="37373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Annual cost is converted into a monthly expense</a:t>
            </a:r>
          </a:p>
          <a:p>
            <a:pPr algn="l">
              <a:lnSpc>
                <a:spcPts val="3216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739505" y="5663928"/>
            <a:ext cx="7622027" cy="1772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880"/>
              </a:lnSpc>
            </a:pPr>
            <a:r>
              <a:rPr lang="en-US" sz="6615">
                <a:solidFill>
                  <a:srgbClr val="224C8D"/>
                </a:solidFill>
                <a:latin typeface="Archive"/>
                <a:ea typeface="Archive"/>
                <a:cs typeface="Archive"/>
                <a:sym typeface="Archive"/>
              </a:rPr>
              <a:t>Typ</a:t>
            </a:r>
            <a:r>
              <a:rPr lang="en-US" sz="6615">
                <a:solidFill>
                  <a:srgbClr val="224C8D"/>
                </a:solidFill>
                <a:latin typeface="Archive"/>
                <a:ea typeface="Archive"/>
                <a:cs typeface="Archive"/>
                <a:sym typeface="Archive"/>
              </a:rPr>
              <a:t>es of Subscriptions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0E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133588" y="-1276655"/>
            <a:ext cx="13258800" cy="13258800"/>
          </a:xfrm>
          <a:custGeom>
            <a:avLst/>
            <a:gdLst/>
            <a:ahLst/>
            <a:cxnLst/>
            <a:rect r="r" b="b" t="t" l="l"/>
            <a:pathLst>
              <a:path h="13258800" w="13258800">
                <a:moveTo>
                  <a:pt x="0" y="0"/>
                </a:moveTo>
                <a:lnTo>
                  <a:pt x="13258800" y="0"/>
                </a:lnTo>
                <a:lnTo>
                  <a:pt x="13258800" y="13258800"/>
                </a:lnTo>
                <a:lnTo>
                  <a:pt x="0" y="13258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042918" y="995992"/>
            <a:ext cx="1218104" cy="1180453"/>
          </a:xfrm>
          <a:custGeom>
            <a:avLst/>
            <a:gdLst/>
            <a:ahLst/>
            <a:cxnLst/>
            <a:rect r="r" b="b" t="t" l="l"/>
            <a:pathLst>
              <a:path h="1180453" w="1218104">
                <a:moveTo>
                  <a:pt x="0" y="0"/>
                </a:moveTo>
                <a:lnTo>
                  <a:pt x="1218104" y="0"/>
                </a:lnTo>
                <a:lnTo>
                  <a:pt x="1218104" y="1180453"/>
                </a:lnTo>
                <a:lnTo>
                  <a:pt x="0" y="11804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972832" y="5514353"/>
            <a:ext cx="1218104" cy="1180453"/>
          </a:xfrm>
          <a:custGeom>
            <a:avLst/>
            <a:gdLst/>
            <a:ahLst/>
            <a:cxnLst/>
            <a:rect r="r" b="b" t="t" l="l"/>
            <a:pathLst>
              <a:path h="1180453" w="1218104">
                <a:moveTo>
                  <a:pt x="0" y="0"/>
                </a:moveTo>
                <a:lnTo>
                  <a:pt x="1218104" y="0"/>
                </a:lnTo>
                <a:lnTo>
                  <a:pt x="1218104" y="1180453"/>
                </a:lnTo>
                <a:lnTo>
                  <a:pt x="0" y="11804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661938" y="320764"/>
            <a:ext cx="5175849" cy="4114800"/>
          </a:xfrm>
          <a:custGeom>
            <a:avLst/>
            <a:gdLst/>
            <a:ahLst/>
            <a:cxnLst/>
            <a:rect r="r" b="b" t="t" l="l"/>
            <a:pathLst>
              <a:path h="4114800" w="5175849">
                <a:moveTo>
                  <a:pt x="0" y="0"/>
                </a:moveTo>
                <a:lnTo>
                  <a:pt x="5175849" y="0"/>
                </a:lnTo>
                <a:lnTo>
                  <a:pt x="517584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904352" y="7126227"/>
            <a:ext cx="6933435" cy="2132073"/>
          </a:xfrm>
          <a:custGeom>
            <a:avLst/>
            <a:gdLst/>
            <a:ahLst/>
            <a:cxnLst/>
            <a:rect r="r" b="b" t="t" l="l"/>
            <a:pathLst>
              <a:path h="2132073" w="6933435">
                <a:moveTo>
                  <a:pt x="0" y="0"/>
                </a:moveTo>
                <a:lnTo>
                  <a:pt x="6933435" y="0"/>
                </a:lnTo>
                <a:lnTo>
                  <a:pt x="6933435" y="2132073"/>
                </a:lnTo>
                <a:lnTo>
                  <a:pt x="0" y="213207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3800507"/>
            <a:ext cx="6854522" cy="5553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30"/>
              </a:lnSpc>
            </a:pPr>
            <a:r>
              <a:rPr lang="en-US" sz="4275">
                <a:solidFill>
                  <a:srgbClr val="37373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Th</a:t>
            </a:r>
            <a:r>
              <a:rPr lang="en-US" sz="4275">
                <a:solidFill>
                  <a:srgbClr val="37373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 system helps users monitor their subscription spending.</a:t>
            </a:r>
          </a:p>
          <a:p>
            <a:pPr algn="l">
              <a:lnSpc>
                <a:spcPts val="5130"/>
              </a:lnSpc>
            </a:pPr>
          </a:p>
          <a:p>
            <a:pPr algn="l">
              <a:lnSpc>
                <a:spcPts val="5130"/>
              </a:lnSpc>
            </a:pPr>
            <a:r>
              <a:rPr lang="en-US" sz="4275" b="true">
                <a:solidFill>
                  <a:srgbClr val="234C7B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Process:</a:t>
            </a:r>
          </a:p>
          <a:p>
            <a:pPr algn="l">
              <a:lnSpc>
                <a:spcPts val="5130"/>
              </a:lnSpc>
            </a:pPr>
            <a:r>
              <a:rPr lang="en-US" sz="4275">
                <a:solidFill>
                  <a:srgbClr val="37373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Monthly Expenses → Compare with Budget → Show Progress</a:t>
            </a:r>
          </a:p>
          <a:p>
            <a:pPr algn="l">
              <a:lnSpc>
                <a:spcPts val="2850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842604" y="1332583"/>
            <a:ext cx="7368874" cy="1782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80"/>
              </a:lnSpc>
            </a:pPr>
            <a:r>
              <a:rPr lang="en-US" sz="6615">
                <a:solidFill>
                  <a:srgbClr val="224C8D"/>
                </a:solidFill>
                <a:latin typeface="Archive"/>
                <a:ea typeface="Archive"/>
                <a:cs typeface="Archive"/>
                <a:sym typeface="Archive"/>
              </a:rPr>
              <a:t>B</a:t>
            </a:r>
            <a:r>
              <a:rPr lang="en-US" sz="6615">
                <a:solidFill>
                  <a:srgbClr val="224C8D"/>
                </a:solidFill>
                <a:latin typeface="Archive"/>
                <a:ea typeface="Archive"/>
                <a:cs typeface="Archive"/>
                <a:sym typeface="Archive"/>
              </a:rPr>
              <a:t>udget Tracking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0E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371975" y="371475"/>
            <a:ext cx="9544050" cy="9544050"/>
          </a:xfrm>
          <a:custGeom>
            <a:avLst/>
            <a:gdLst/>
            <a:ahLst/>
            <a:cxnLst/>
            <a:rect r="r" b="b" t="t" l="l"/>
            <a:pathLst>
              <a:path h="9544050" w="9544050">
                <a:moveTo>
                  <a:pt x="0" y="0"/>
                </a:moveTo>
                <a:lnTo>
                  <a:pt x="9544050" y="0"/>
                </a:lnTo>
                <a:lnTo>
                  <a:pt x="9544050" y="9544050"/>
                </a:lnTo>
                <a:lnTo>
                  <a:pt x="0" y="95440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646846" y="1853242"/>
            <a:ext cx="1218104" cy="1180453"/>
          </a:xfrm>
          <a:custGeom>
            <a:avLst/>
            <a:gdLst/>
            <a:ahLst/>
            <a:cxnLst/>
            <a:rect r="r" b="b" t="t" l="l"/>
            <a:pathLst>
              <a:path h="1180453" w="1218104">
                <a:moveTo>
                  <a:pt x="0" y="0"/>
                </a:moveTo>
                <a:lnTo>
                  <a:pt x="1218103" y="0"/>
                </a:lnTo>
                <a:lnTo>
                  <a:pt x="1218103" y="1180453"/>
                </a:lnTo>
                <a:lnTo>
                  <a:pt x="0" y="11804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502471" y="7496804"/>
            <a:ext cx="1218104" cy="1180453"/>
          </a:xfrm>
          <a:custGeom>
            <a:avLst/>
            <a:gdLst/>
            <a:ahLst/>
            <a:cxnLst/>
            <a:rect r="r" b="b" t="t" l="l"/>
            <a:pathLst>
              <a:path h="1180453" w="1218104">
                <a:moveTo>
                  <a:pt x="0" y="0"/>
                </a:moveTo>
                <a:lnTo>
                  <a:pt x="1218103" y="0"/>
                </a:lnTo>
                <a:lnTo>
                  <a:pt x="1218103" y="1180454"/>
                </a:lnTo>
                <a:lnTo>
                  <a:pt x="0" y="11804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716739" y="3174307"/>
            <a:ext cx="7415633" cy="5133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0"/>
              </a:lnSpc>
            </a:pPr>
            <a:r>
              <a:rPr lang="en-US" sz="3075">
                <a:solidFill>
                  <a:srgbClr val="37373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The us</a:t>
            </a:r>
            <a:r>
              <a:rPr lang="en-US" sz="3075">
                <a:solidFill>
                  <a:srgbClr val="37373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er can cancel a subscription using its Subscription ID.</a:t>
            </a:r>
          </a:p>
          <a:p>
            <a:pPr algn="l" marL="663967" indent="-331983" lvl="1">
              <a:lnSpc>
                <a:spcPts val="3690"/>
              </a:lnSpc>
              <a:buFont typeface="Arial"/>
              <a:buChar char="•"/>
            </a:pPr>
            <a:r>
              <a:rPr lang="en-US" sz="3075">
                <a:solidFill>
                  <a:srgbClr val="37373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Select the cancellation option</a:t>
            </a:r>
          </a:p>
          <a:p>
            <a:pPr algn="l" marL="663967" indent="-331983" lvl="1">
              <a:lnSpc>
                <a:spcPts val="3690"/>
              </a:lnSpc>
              <a:buFont typeface="Arial"/>
              <a:buChar char="•"/>
            </a:pPr>
            <a:r>
              <a:rPr lang="en-US" sz="3075">
                <a:solidFill>
                  <a:srgbClr val="37373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Enter the subscription ID</a:t>
            </a:r>
          </a:p>
          <a:p>
            <a:pPr algn="l" marL="663967" indent="-331983" lvl="1">
              <a:lnSpc>
                <a:spcPts val="3690"/>
              </a:lnSpc>
              <a:buFont typeface="Arial"/>
              <a:buChar char="•"/>
            </a:pPr>
            <a:r>
              <a:rPr lang="en-US" sz="3075">
                <a:solidFill>
                  <a:srgbClr val="37373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Confirm cancellation</a:t>
            </a:r>
          </a:p>
          <a:p>
            <a:pPr algn="l" marL="663967" indent="-331983" lvl="1">
              <a:lnSpc>
                <a:spcPts val="3690"/>
              </a:lnSpc>
              <a:buFont typeface="Arial"/>
              <a:buChar char="•"/>
            </a:pPr>
            <a:r>
              <a:rPr lang="en-US" sz="3075">
                <a:solidFill>
                  <a:srgbClr val="37373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Subscription status changes to Cancelled</a:t>
            </a:r>
          </a:p>
          <a:p>
            <a:pPr algn="l" marL="663967" indent="-331983" lvl="1">
              <a:lnSpc>
                <a:spcPts val="3690"/>
              </a:lnSpc>
              <a:buFont typeface="Arial"/>
              <a:buChar char="•"/>
            </a:pPr>
            <a:r>
              <a:rPr lang="en-US" sz="3075">
                <a:solidFill>
                  <a:srgbClr val="37373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Auto-renewal is turned off</a:t>
            </a:r>
          </a:p>
          <a:p>
            <a:pPr algn="l">
              <a:lnSpc>
                <a:spcPts val="3690"/>
              </a:lnSpc>
            </a:pPr>
            <a:r>
              <a:rPr lang="en-US" sz="3075">
                <a:solidFill>
                  <a:srgbClr val="37373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Cancelled subscriptions are not included in the active monthly expense calculation.</a:t>
            </a:r>
          </a:p>
          <a:p>
            <a:pPr algn="ctr">
              <a:lnSpc>
                <a:spcPts val="3690"/>
              </a:lnSpc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2364098" y="8451157"/>
            <a:ext cx="5359765" cy="1473935"/>
          </a:xfrm>
          <a:custGeom>
            <a:avLst/>
            <a:gdLst/>
            <a:ahLst/>
            <a:cxnLst/>
            <a:rect r="r" b="b" t="t" l="l"/>
            <a:pathLst>
              <a:path h="1473935" w="5359765">
                <a:moveTo>
                  <a:pt x="0" y="0"/>
                </a:moveTo>
                <a:lnTo>
                  <a:pt x="5359765" y="0"/>
                </a:lnTo>
                <a:lnTo>
                  <a:pt x="5359765" y="1473936"/>
                </a:lnTo>
                <a:lnTo>
                  <a:pt x="0" y="14739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716739" y="2188362"/>
            <a:ext cx="6854522" cy="905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80"/>
              </a:lnSpc>
            </a:pPr>
            <a:r>
              <a:rPr lang="en-US" sz="6615">
                <a:solidFill>
                  <a:srgbClr val="224C8D"/>
                </a:solidFill>
                <a:latin typeface="Archive"/>
                <a:ea typeface="Archive"/>
                <a:cs typeface="Archive"/>
                <a:sym typeface="Archive"/>
              </a:rPr>
              <a:t>Cancella</a:t>
            </a:r>
            <a:r>
              <a:rPr lang="en-US" sz="6615">
                <a:solidFill>
                  <a:srgbClr val="224C8D"/>
                </a:solidFill>
                <a:latin typeface="Archive"/>
                <a:ea typeface="Archive"/>
                <a:cs typeface="Archive"/>
                <a:sym typeface="Archive"/>
              </a:rPr>
              <a:t>tion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0E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30498" y="0"/>
            <a:ext cx="16027003" cy="16027003"/>
          </a:xfrm>
          <a:custGeom>
            <a:avLst/>
            <a:gdLst/>
            <a:ahLst/>
            <a:cxnLst/>
            <a:rect r="r" b="b" t="t" l="l"/>
            <a:pathLst>
              <a:path h="16027003" w="16027003">
                <a:moveTo>
                  <a:pt x="0" y="0"/>
                </a:moveTo>
                <a:lnTo>
                  <a:pt x="16027004" y="0"/>
                </a:lnTo>
                <a:lnTo>
                  <a:pt x="16027004" y="16027003"/>
                </a:lnTo>
                <a:lnTo>
                  <a:pt x="0" y="160270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62523" y="1317460"/>
            <a:ext cx="1218104" cy="1180453"/>
          </a:xfrm>
          <a:custGeom>
            <a:avLst/>
            <a:gdLst/>
            <a:ahLst/>
            <a:cxnLst/>
            <a:rect r="r" b="b" t="t" l="l"/>
            <a:pathLst>
              <a:path h="1180453" w="1218104">
                <a:moveTo>
                  <a:pt x="0" y="0"/>
                </a:moveTo>
                <a:lnTo>
                  <a:pt x="1218104" y="0"/>
                </a:lnTo>
                <a:lnTo>
                  <a:pt x="1218104" y="1180453"/>
                </a:lnTo>
                <a:lnTo>
                  <a:pt x="0" y="11804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169800" y="1907687"/>
            <a:ext cx="1218104" cy="1180453"/>
          </a:xfrm>
          <a:custGeom>
            <a:avLst/>
            <a:gdLst/>
            <a:ahLst/>
            <a:cxnLst/>
            <a:rect r="r" b="b" t="t" l="l"/>
            <a:pathLst>
              <a:path h="1180453" w="1218104">
                <a:moveTo>
                  <a:pt x="0" y="0"/>
                </a:moveTo>
                <a:lnTo>
                  <a:pt x="1218104" y="0"/>
                </a:lnTo>
                <a:lnTo>
                  <a:pt x="1218104" y="1180453"/>
                </a:lnTo>
                <a:lnTo>
                  <a:pt x="0" y="11804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422314" y="2271971"/>
            <a:ext cx="9443371" cy="2612372"/>
          </a:xfrm>
          <a:custGeom>
            <a:avLst/>
            <a:gdLst/>
            <a:ahLst/>
            <a:cxnLst/>
            <a:rect r="r" b="b" t="t" l="l"/>
            <a:pathLst>
              <a:path h="2612372" w="9443371">
                <a:moveTo>
                  <a:pt x="0" y="0"/>
                </a:moveTo>
                <a:lnTo>
                  <a:pt x="9443372" y="0"/>
                </a:lnTo>
                <a:lnTo>
                  <a:pt x="9443372" y="2612372"/>
                </a:lnTo>
                <a:lnTo>
                  <a:pt x="0" y="261237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873959" y="5431405"/>
            <a:ext cx="6711647" cy="518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70"/>
              </a:lnSpc>
            </a:pPr>
            <a:r>
              <a:rPr lang="en-US" sz="3475">
                <a:solidFill>
                  <a:srgbClr val="37373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</a:t>
            </a:r>
            <a:r>
              <a:rPr lang="en-US" sz="3475">
                <a:solidFill>
                  <a:srgbClr val="37373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he system provides a simple report containing:</a:t>
            </a:r>
          </a:p>
          <a:p>
            <a:pPr algn="l" marL="750325" indent="-375162" lvl="1">
              <a:lnSpc>
                <a:spcPts val="4170"/>
              </a:lnSpc>
              <a:buFont typeface="Arial"/>
              <a:buChar char="•"/>
            </a:pPr>
            <a:r>
              <a:rPr lang="en-US" sz="3475">
                <a:solidFill>
                  <a:srgbClr val="37373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Total subscriptions</a:t>
            </a:r>
          </a:p>
          <a:p>
            <a:pPr algn="l" marL="750325" indent="-375162" lvl="1">
              <a:lnSpc>
                <a:spcPts val="4170"/>
              </a:lnSpc>
              <a:buFont typeface="Arial"/>
              <a:buChar char="•"/>
            </a:pPr>
            <a:r>
              <a:rPr lang="en-US" sz="3475">
                <a:solidFill>
                  <a:srgbClr val="37373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Active subscriptions</a:t>
            </a:r>
          </a:p>
          <a:p>
            <a:pPr algn="l" marL="750325" indent="-375162" lvl="1">
              <a:lnSpc>
                <a:spcPts val="4170"/>
              </a:lnSpc>
              <a:buFont typeface="Arial"/>
              <a:buChar char="•"/>
            </a:pPr>
            <a:r>
              <a:rPr lang="en-US" sz="3475">
                <a:solidFill>
                  <a:srgbClr val="37373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Cancelled subscriptions</a:t>
            </a:r>
          </a:p>
          <a:p>
            <a:pPr algn="l" marL="750325" indent="-375162" lvl="1">
              <a:lnSpc>
                <a:spcPts val="4170"/>
              </a:lnSpc>
              <a:buFont typeface="Arial"/>
              <a:buChar char="•"/>
            </a:pPr>
            <a:r>
              <a:rPr lang="en-US" sz="3475">
                <a:solidFill>
                  <a:srgbClr val="37373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Total monthly expenses</a:t>
            </a:r>
          </a:p>
          <a:p>
            <a:pPr algn="l">
              <a:lnSpc>
                <a:spcPts val="4170"/>
              </a:lnSpc>
            </a:pPr>
            <a:r>
              <a:rPr lang="en-US" sz="3475">
                <a:solidFill>
                  <a:srgbClr val="37373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This gives the user a quick overview of their subscriptions and spending.</a:t>
            </a:r>
          </a:p>
          <a:p>
            <a:pPr algn="l">
              <a:lnSpc>
                <a:spcPts val="3690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2107942" y="6787098"/>
            <a:ext cx="6459736" cy="2190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702"/>
              </a:lnSpc>
            </a:pPr>
            <a:r>
              <a:rPr lang="en-US" sz="5483">
                <a:solidFill>
                  <a:srgbClr val="224C8D"/>
                </a:solidFill>
                <a:latin typeface="Archive"/>
                <a:ea typeface="Archive"/>
                <a:cs typeface="Archive"/>
                <a:sym typeface="Archive"/>
              </a:rPr>
              <a:t>Summ</a:t>
            </a:r>
            <a:r>
              <a:rPr lang="en-US" sz="5483">
                <a:solidFill>
                  <a:srgbClr val="224C8D"/>
                </a:solidFill>
                <a:latin typeface="Archive"/>
                <a:ea typeface="Archive"/>
                <a:cs typeface="Archive"/>
                <a:sym typeface="Archive"/>
              </a:rPr>
              <a:t>ary Report</a:t>
            </a:r>
          </a:p>
          <a:p>
            <a:pPr algn="r">
              <a:lnSpc>
                <a:spcPts val="5702"/>
              </a:lnSpc>
            </a:pPr>
          </a:p>
          <a:p>
            <a:pPr algn="r">
              <a:lnSpc>
                <a:spcPts val="5702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0E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133588" y="-1276655"/>
            <a:ext cx="13258800" cy="13258800"/>
          </a:xfrm>
          <a:custGeom>
            <a:avLst/>
            <a:gdLst/>
            <a:ahLst/>
            <a:cxnLst/>
            <a:rect r="r" b="b" t="t" l="l"/>
            <a:pathLst>
              <a:path h="13258800" w="13258800">
                <a:moveTo>
                  <a:pt x="0" y="0"/>
                </a:moveTo>
                <a:lnTo>
                  <a:pt x="13258800" y="0"/>
                </a:lnTo>
                <a:lnTo>
                  <a:pt x="13258800" y="13258800"/>
                </a:lnTo>
                <a:lnTo>
                  <a:pt x="0" y="13258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042918" y="995992"/>
            <a:ext cx="1218104" cy="1180453"/>
          </a:xfrm>
          <a:custGeom>
            <a:avLst/>
            <a:gdLst/>
            <a:ahLst/>
            <a:cxnLst/>
            <a:rect r="r" b="b" t="t" l="l"/>
            <a:pathLst>
              <a:path h="1180453" w="1218104">
                <a:moveTo>
                  <a:pt x="0" y="0"/>
                </a:moveTo>
                <a:lnTo>
                  <a:pt x="1218104" y="0"/>
                </a:lnTo>
                <a:lnTo>
                  <a:pt x="1218104" y="1180453"/>
                </a:lnTo>
                <a:lnTo>
                  <a:pt x="0" y="11804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12925" y="8304958"/>
            <a:ext cx="1218104" cy="1180453"/>
          </a:xfrm>
          <a:custGeom>
            <a:avLst/>
            <a:gdLst/>
            <a:ahLst/>
            <a:cxnLst/>
            <a:rect r="r" b="b" t="t" l="l"/>
            <a:pathLst>
              <a:path h="1180453" w="1218104">
                <a:moveTo>
                  <a:pt x="0" y="0"/>
                </a:moveTo>
                <a:lnTo>
                  <a:pt x="1218104" y="0"/>
                </a:lnTo>
                <a:lnTo>
                  <a:pt x="1218104" y="1180454"/>
                </a:lnTo>
                <a:lnTo>
                  <a:pt x="0" y="11804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720362" y="1982042"/>
            <a:ext cx="6101615" cy="6322917"/>
          </a:xfrm>
          <a:custGeom>
            <a:avLst/>
            <a:gdLst/>
            <a:ahLst/>
            <a:cxnLst/>
            <a:rect r="r" b="b" t="t" l="l"/>
            <a:pathLst>
              <a:path h="6322917" w="6101615">
                <a:moveTo>
                  <a:pt x="0" y="0"/>
                </a:moveTo>
                <a:lnTo>
                  <a:pt x="6101615" y="0"/>
                </a:lnTo>
                <a:lnTo>
                  <a:pt x="6101615" y="6322916"/>
                </a:lnTo>
                <a:lnTo>
                  <a:pt x="0" y="63229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4781550"/>
            <a:ext cx="6854522" cy="4476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3375">
                <a:solidFill>
                  <a:srgbClr val="37373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Subs</a:t>
            </a:r>
            <a:r>
              <a:rPr lang="en-US" sz="3375">
                <a:solidFill>
                  <a:srgbClr val="37373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cripti</a:t>
            </a:r>
            <a:r>
              <a:rPr lang="en-US" sz="3375">
                <a:solidFill>
                  <a:srgbClr val="37373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on Manager is a simple system designed to help users:</a:t>
            </a:r>
          </a:p>
          <a:p>
            <a:pPr algn="l" marL="728735" indent="-364368" lvl="1">
              <a:lnSpc>
                <a:spcPts val="4050"/>
              </a:lnSpc>
              <a:buFont typeface="Arial"/>
              <a:buChar char="•"/>
            </a:pPr>
            <a:r>
              <a:rPr lang="en-US" sz="3375">
                <a:solidFill>
                  <a:srgbClr val="37373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Organize their subscriptions</a:t>
            </a:r>
          </a:p>
          <a:p>
            <a:pPr algn="l" marL="728735" indent="-364368" lvl="1">
              <a:lnSpc>
                <a:spcPts val="4050"/>
              </a:lnSpc>
              <a:buFont typeface="Arial"/>
              <a:buChar char="•"/>
            </a:pPr>
            <a:r>
              <a:rPr lang="en-US" sz="3375">
                <a:solidFill>
                  <a:srgbClr val="37373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Track monthly spending</a:t>
            </a:r>
          </a:p>
          <a:p>
            <a:pPr algn="l" marL="728735" indent="-364368" lvl="1">
              <a:lnSpc>
                <a:spcPts val="4050"/>
              </a:lnSpc>
              <a:buFont typeface="Arial"/>
              <a:buChar char="•"/>
            </a:pPr>
            <a:r>
              <a:rPr lang="en-US" sz="3375">
                <a:solidFill>
                  <a:srgbClr val="37373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Monitor their budget</a:t>
            </a:r>
          </a:p>
          <a:p>
            <a:pPr algn="l" marL="728735" indent="-364368" lvl="1">
              <a:lnSpc>
                <a:spcPts val="4050"/>
              </a:lnSpc>
              <a:buFont typeface="Arial"/>
              <a:buChar char="•"/>
            </a:pPr>
            <a:r>
              <a:rPr lang="en-US" sz="3375">
                <a:solidFill>
                  <a:srgbClr val="37373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Cancel subscriptions</a:t>
            </a:r>
          </a:p>
          <a:p>
            <a:pPr algn="l" marL="728735" indent="-364368" lvl="1">
              <a:lnSpc>
                <a:spcPts val="4050"/>
              </a:lnSpc>
              <a:buFont typeface="Arial"/>
              <a:buChar char="•"/>
            </a:pPr>
            <a:r>
              <a:rPr lang="en-US" sz="3375">
                <a:solidFill>
                  <a:srgbClr val="37373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View their overall subscription expenses</a:t>
            </a:r>
          </a:p>
          <a:p>
            <a:pPr algn="l">
              <a:lnSpc>
                <a:spcPts val="2850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356956" y="3536374"/>
            <a:ext cx="6913058" cy="671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09"/>
              </a:lnSpc>
            </a:pPr>
            <a:r>
              <a:rPr lang="en-US" sz="4912">
                <a:solidFill>
                  <a:srgbClr val="224C8D"/>
                </a:solidFill>
                <a:latin typeface="Archive"/>
                <a:ea typeface="Archive"/>
                <a:cs typeface="Archive"/>
                <a:sym typeface="Archive"/>
              </a:rPr>
              <a:t>Co</a:t>
            </a:r>
            <a:r>
              <a:rPr lang="en-US" sz="4912">
                <a:solidFill>
                  <a:srgbClr val="224C8D"/>
                </a:solidFill>
                <a:latin typeface="Archive"/>
                <a:ea typeface="Archive"/>
                <a:cs typeface="Archive"/>
                <a:sym typeface="Archive"/>
              </a:rPr>
              <a:t>nc</a:t>
            </a:r>
            <a:r>
              <a:rPr lang="en-US" sz="4912">
                <a:solidFill>
                  <a:srgbClr val="224C8D"/>
                </a:solidFill>
                <a:latin typeface="Archive"/>
                <a:ea typeface="Archive"/>
                <a:cs typeface="Archive"/>
                <a:sym typeface="Archive"/>
              </a:rPr>
              <a:t>lusion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0E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371975" y="371475"/>
            <a:ext cx="9544050" cy="9544050"/>
          </a:xfrm>
          <a:custGeom>
            <a:avLst/>
            <a:gdLst/>
            <a:ahLst/>
            <a:cxnLst/>
            <a:rect r="r" b="b" t="t" l="l"/>
            <a:pathLst>
              <a:path h="9544050" w="9544050">
                <a:moveTo>
                  <a:pt x="0" y="0"/>
                </a:moveTo>
                <a:lnTo>
                  <a:pt x="9544050" y="0"/>
                </a:lnTo>
                <a:lnTo>
                  <a:pt x="9544050" y="9544050"/>
                </a:lnTo>
                <a:lnTo>
                  <a:pt x="0" y="95440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646846" y="1853242"/>
            <a:ext cx="1218104" cy="1180453"/>
          </a:xfrm>
          <a:custGeom>
            <a:avLst/>
            <a:gdLst/>
            <a:ahLst/>
            <a:cxnLst/>
            <a:rect r="r" b="b" t="t" l="l"/>
            <a:pathLst>
              <a:path h="1180453" w="1218104">
                <a:moveTo>
                  <a:pt x="0" y="0"/>
                </a:moveTo>
                <a:lnTo>
                  <a:pt x="1218103" y="0"/>
                </a:lnTo>
                <a:lnTo>
                  <a:pt x="1218103" y="1180453"/>
                </a:lnTo>
                <a:lnTo>
                  <a:pt x="0" y="11804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502471" y="7496804"/>
            <a:ext cx="1218104" cy="1180453"/>
          </a:xfrm>
          <a:custGeom>
            <a:avLst/>
            <a:gdLst/>
            <a:ahLst/>
            <a:cxnLst/>
            <a:rect r="r" b="b" t="t" l="l"/>
            <a:pathLst>
              <a:path h="1180453" w="1218104">
                <a:moveTo>
                  <a:pt x="0" y="0"/>
                </a:moveTo>
                <a:lnTo>
                  <a:pt x="1218103" y="0"/>
                </a:lnTo>
                <a:lnTo>
                  <a:pt x="1218103" y="1180454"/>
                </a:lnTo>
                <a:lnTo>
                  <a:pt x="0" y="11804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916025" y="6427234"/>
            <a:ext cx="3319593" cy="3319593"/>
          </a:xfrm>
          <a:custGeom>
            <a:avLst/>
            <a:gdLst/>
            <a:ahLst/>
            <a:cxnLst/>
            <a:rect r="r" b="b" t="t" l="l"/>
            <a:pathLst>
              <a:path h="3319593" w="3319593">
                <a:moveTo>
                  <a:pt x="0" y="0"/>
                </a:moveTo>
                <a:lnTo>
                  <a:pt x="3319593" y="0"/>
                </a:lnTo>
                <a:lnTo>
                  <a:pt x="3319593" y="3319593"/>
                </a:lnTo>
                <a:lnTo>
                  <a:pt x="0" y="331959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60980">
            <a:off x="1158989" y="789154"/>
            <a:ext cx="3169458" cy="2806411"/>
          </a:xfrm>
          <a:custGeom>
            <a:avLst/>
            <a:gdLst/>
            <a:ahLst/>
            <a:cxnLst/>
            <a:rect r="r" b="b" t="t" l="l"/>
            <a:pathLst>
              <a:path h="2806411" w="3169458">
                <a:moveTo>
                  <a:pt x="0" y="0"/>
                </a:moveTo>
                <a:lnTo>
                  <a:pt x="3169458" y="0"/>
                </a:lnTo>
                <a:lnTo>
                  <a:pt x="3169458" y="2806411"/>
                </a:lnTo>
                <a:lnTo>
                  <a:pt x="0" y="280641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716739" y="4785769"/>
            <a:ext cx="6854522" cy="1330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04"/>
              </a:lnSpc>
            </a:pPr>
            <a:r>
              <a:rPr lang="en-US" sz="9715">
                <a:solidFill>
                  <a:srgbClr val="224C8D"/>
                </a:solidFill>
                <a:latin typeface="Archive"/>
                <a:ea typeface="Archive"/>
                <a:cs typeface="Archive"/>
                <a:sym typeface="Archive"/>
              </a:rPr>
              <a:t>Th</a:t>
            </a:r>
            <a:r>
              <a:rPr lang="en-US" sz="9715">
                <a:solidFill>
                  <a:srgbClr val="224C8D"/>
                </a:solidFill>
                <a:latin typeface="Archive"/>
                <a:ea typeface="Archive"/>
                <a:cs typeface="Archive"/>
                <a:sym typeface="Archive"/>
              </a:rPr>
              <a:t>a</a:t>
            </a:r>
            <a:r>
              <a:rPr lang="en-US" sz="9715">
                <a:solidFill>
                  <a:srgbClr val="224C8D"/>
                </a:solidFill>
                <a:latin typeface="Archive"/>
                <a:ea typeface="Archive"/>
                <a:cs typeface="Archive"/>
                <a:sym typeface="Archive"/>
              </a:rPr>
              <a:t>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DAHSYMkdBfA</dc:identifier>
  <dcterms:modified xsi:type="dcterms:W3CDTF">2011-08-01T06:04:30Z</dcterms:modified>
  <cp:revision>1</cp:revision>
  <dc:title>Subscription Manager</dc:title>
</cp:coreProperties>
</file>